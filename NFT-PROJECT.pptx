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4" r:id="rId6"/>
    <p:sldId id="263" r:id="rId7"/>
    <p:sldId id="273" r:id="rId8"/>
    <p:sldId id="262" r:id="rId9"/>
    <p:sldId id="260" r:id="rId10"/>
    <p:sldId id="266" r:id="rId11"/>
    <p:sldId id="261" r:id="rId12"/>
    <p:sldId id="275" r:id="rId13"/>
    <p:sldId id="276" r:id="rId14"/>
    <p:sldId id="278" r:id="rId15"/>
    <p:sldId id="270" r:id="rId16"/>
    <p:sldId id="268" r:id="rId17"/>
    <p:sldId id="274" r:id="rId18"/>
    <p:sldId id="269" r:id="rId19"/>
    <p:sldId id="279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6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57F2F0-BFDA-0B81-6E3C-2F00CCCB82BF}" v="465" dt="2025-11-09T17:46:15.794"/>
    <p1510:client id="{5AF4E4F9-2D4B-5CCA-E966-5F834492F5BA}" v="25" dt="2025-11-10T09:42:42.891"/>
    <p1510:client id="{BC762105-89CC-41F5-B11A-506603111580}" v="154" dt="2025-11-09T17:16:16.830"/>
    <p1510:client id="{DCFDB55C-8C5E-21A1-282C-D1B042C7010D}" v="8" dt="2025-11-10T09:35:58.605"/>
    <p1510:client id="{F2E1A353-10C0-C177-9A13-573D2B6523C0}" v="5" dt="2025-11-10T11:49:38.9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11/18/2025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S8p6PLEGmpo03tD-uPX4gscWRTmesvmG?usp=sharing" TargetMode="External"/><Relationship Id="rId2" Type="http://schemas.openxmlformats.org/officeDocument/2006/relationships/hyperlink" Target="https://docs.google.com/document/d/117-srpSIJhaz0cYFYWohQnzRBqXC7FZdoSUEmXh0TfQ/edit?usp=sharing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BF742-4F35-4720-DCFC-4B1D78631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437" y="353614"/>
            <a:ext cx="10572000" cy="2971051"/>
          </a:xfrm>
        </p:spPr>
        <p:txBody>
          <a:bodyPr/>
          <a:lstStyle/>
          <a:p>
            <a:r>
              <a:rPr lang="en-US" sz="4000"/>
              <a:t>Context-Aware Voice Navigation System Using YOLO-Based Object Detection and Neuro-Fuzzy</a:t>
            </a:r>
            <a:br>
              <a:rPr lang="en-US" sz="4000"/>
            </a:br>
            <a:br>
              <a:rPr lang="en-US" sz="4000"/>
            </a:br>
            <a:r>
              <a:rPr lang="en-IN" sz="2000"/>
              <a:t>Course Title: Neuro Fuzzy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AD9EA-ED6A-5BA0-8A11-D298A804A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117284"/>
            <a:ext cx="10572000" cy="598537"/>
          </a:xfrm>
        </p:spPr>
        <p:txBody>
          <a:bodyPr>
            <a:normAutofit fontScale="25000" lnSpcReduction="20000"/>
          </a:bodyPr>
          <a:lstStyle/>
          <a:p>
            <a:r>
              <a:rPr lang="en-IN" sz="6400"/>
              <a:t>Presented By –</a:t>
            </a:r>
          </a:p>
          <a:p>
            <a:br>
              <a:rPr lang="en-IN" sz="6400"/>
            </a:br>
            <a:r>
              <a:rPr lang="en-IN" sz="6400" b="1"/>
              <a:t>Mrunmayee Limaye (BT23CSE019)</a:t>
            </a:r>
          </a:p>
          <a:p>
            <a:r>
              <a:rPr lang="en-IN" sz="6400" b="1"/>
              <a:t>Anagha Choudhary (BT23CSE034)</a:t>
            </a:r>
          </a:p>
          <a:p>
            <a:r>
              <a:rPr lang="en-IN" sz="6400" b="1"/>
              <a:t>Sanika </a:t>
            </a:r>
            <a:r>
              <a:rPr lang="en-IN" sz="6400" b="1" err="1"/>
              <a:t>Budhe</a:t>
            </a:r>
            <a:r>
              <a:rPr lang="en-IN" sz="6400" b="1"/>
              <a:t> (BT23CSE036)</a:t>
            </a:r>
            <a:endParaRPr lang="en-IN" sz="1600" b="1"/>
          </a:p>
        </p:txBody>
      </p:sp>
      <p:sp>
        <p:nvSpPr>
          <p:cNvPr id="4" name="Teardrop 3">
            <a:extLst>
              <a:ext uri="{FF2B5EF4-FFF2-40B4-BE49-F238E27FC236}">
                <a16:creationId xmlns:a16="http://schemas.microsoft.com/office/drawing/2014/main" id="{D5D50355-2965-EF51-AE69-B59349F0A70F}"/>
              </a:ext>
            </a:extLst>
          </p:cNvPr>
          <p:cNvSpPr/>
          <p:nvPr/>
        </p:nvSpPr>
        <p:spPr>
          <a:xfrm>
            <a:off x="10330296" y="-3047"/>
            <a:ext cx="1861915" cy="707226"/>
          </a:xfrm>
          <a:prstGeom prst="teardrop">
            <a:avLst/>
          </a:prstGeom>
          <a:solidFill>
            <a:schemeClr val="accent1">
              <a:lumMod val="75000"/>
            </a:schemeClr>
          </a:solidFill>
          <a:effectLst>
            <a:outerShdw blurRad="190500" dist="190500" dir="348000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EA890-4764-8A8D-3E53-D10741CAD2BB}"/>
              </a:ext>
            </a:extLst>
          </p:cNvPr>
          <p:cNvSpPr txBox="1"/>
          <p:nvPr/>
        </p:nvSpPr>
        <p:spPr>
          <a:xfrm>
            <a:off x="10819371" y="164458"/>
            <a:ext cx="11142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Slide 1</a:t>
            </a:r>
          </a:p>
        </p:txBody>
      </p:sp>
    </p:spTree>
    <p:extLst>
      <p:ext uri="{BB962C8B-B14F-4D97-AF65-F5344CB8AC3E}">
        <p14:creationId xmlns:p14="http://schemas.microsoft.com/office/powerpoint/2010/main" val="2872928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0489D-2482-FA6E-8BAF-3C8DC1865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Index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623EA1C-789E-86A2-8754-A96BD3AEBE2B}"/>
              </a:ext>
            </a:extLst>
          </p:cNvPr>
          <p:cNvSpPr/>
          <p:nvPr/>
        </p:nvSpPr>
        <p:spPr>
          <a:xfrm>
            <a:off x="3811156" y="1148538"/>
            <a:ext cx="7016543" cy="5486301"/>
          </a:xfrm>
          <a:prstGeom prst="roundRect">
            <a:avLst/>
          </a:prstGeom>
          <a:solidFill>
            <a:schemeClr val="bg2">
              <a:lumMod val="50000"/>
              <a:lumOff val="50000"/>
            </a:schemeClr>
          </a:solidFill>
          <a:effectLst>
            <a:outerShdw blurRad="977900" dist="660400" dir="21540000">
              <a:srgbClr val="000000">
                <a:alpha val="81000"/>
              </a:srgbClr>
            </a:outerShdw>
            <a:reflection stA="21000" endPos="54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1B1D81-E2B4-1FC7-8748-720B0D2AF72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093828" y="843081"/>
            <a:ext cx="7701093" cy="5832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endParaRPr lang="en-US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r>
              <a:rPr lang="en-US" altLang="en-US" sz="1600" b="1">
                <a:latin typeface="Arial"/>
                <a:cs typeface="Arial"/>
              </a:rPr>
              <a:t>Project Overview                                                     3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r>
              <a:rPr lang="en-US" altLang="en-US" sz="1600" b="1">
                <a:latin typeface="Arial"/>
                <a:cs typeface="Arial"/>
              </a:rPr>
              <a:t>Problem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 Statement 			        </a:t>
            </a:r>
            <a:r>
              <a:rPr lang="en-US" altLang="en-US" sz="1600">
                <a:latin typeface="Arial"/>
                <a:cs typeface="Arial"/>
              </a:rPr>
              <a:t>4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r>
              <a:rPr lang="en-US" altLang="en-US" sz="1600" b="1">
                <a:latin typeface="Arial"/>
                <a:cs typeface="Arial"/>
              </a:rPr>
              <a:t>System Architecture</a:t>
            </a:r>
            <a:r>
              <a:rPr lang="en-US" altLang="en-US" sz="1600">
                <a:latin typeface="Arial"/>
                <a:cs typeface="Arial"/>
              </a:rPr>
              <a:t>                                        5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r>
              <a:rPr lang="en-US" altLang="en-US" sz="1600" b="1">
                <a:latin typeface="Arial"/>
                <a:cs typeface="Arial"/>
              </a:rPr>
              <a:t>Key Components   </a:t>
            </a:r>
            <a:r>
              <a:rPr lang="en-US" altLang="en-US" sz="1600">
                <a:latin typeface="Arial"/>
                <a:cs typeface="Arial"/>
              </a:rPr>
              <a:t>                                                  6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r>
              <a:rPr lang="en-US" altLang="en-US" sz="1600" b="1">
                <a:latin typeface="Arial"/>
                <a:cs typeface="Arial"/>
              </a:rPr>
              <a:t>Navigation Instructions			        </a:t>
            </a:r>
            <a:r>
              <a:rPr lang="en-US" altLang="en-US" sz="1600">
                <a:latin typeface="Arial"/>
                <a:cs typeface="Arial"/>
              </a:rPr>
              <a:t>7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r>
              <a:rPr lang="en-US" altLang="en-US" sz="1600" b="1">
                <a:latin typeface="Arial"/>
                <a:cs typeface="Arial"/>
              </a:rPr>
              <a:t>Technical Features  			        </a:t>
            </a:r>
            <a:r>
              <a:rPr lang="en-US" altLang="en-US" sz="1600">
                <a:latin typeface="Arial"/>
                <a:cs typeface="Arial"/>
              </a:rPr>
              <a:t>8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r>
              <a:rPr lang="en-US" altLang="en-US" sz="1600" b="1">
                <a:latin typeface="Arial"/>
                <a:cs typeface="Arial"/>
              </a:rPr>
              <a:t> Scope and Application			        </a:t>
            </a:r>
            <a:r>
              <a:rPr lang="en-US" altLang="en-US" sz="1600">
                <a:latin typeface="Arial"/>
                <a:cs typeface="Arial"/>
              </a:rPr>
              <a:t>9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r>
              <a:rPr lang="en-US" altLang="en-US" sz="1600" b="1">
                <a:latin typeface="Arial"/>
                <a:cs typeface="Arial"/>
              </a:rPr>
              <a:t>Implementation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 Details</a:t>
            </a:r>
            <a:r>
              <a:rPr lang="en-US" altLang="en-US" sz="1600">
                <a:latin typeface="Arial"/>
                <a:cs typeface="Arial"/>
              </a:rPr>
              <a:t>                                          10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r>
              <a:rPr lang="en-US" altLang="en-US" sz="1600" b="1">
                <a:latin typeface="Arial"/>
                <a:cs typeface="Arial"/>
              </a:rPr>
              <a:t>Why this specific stack</a:t>
            </a:r>
            <a:r>
              <a:rPr lang="en-US" altLang="en-US" sz="1600">
                <a:latin typeface="Arial"/>
                <a:cs typeface="Arial"/>
              </a:rPr>
              <a:t>		                       11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r>
              <a:rPr lang="en-US" altLang="en-US" sz="1600" b="1">
                <a:latin typeface="Arial"/>
                <a:cs typeface="Arial"/>
              </a:rPr>
              <a:t>Complete System Flow			       </a:t>
            </a:r>
            <a:r>
              <a:rPr lang="en-US" altLang="en-US" sz="1600">
                <a:latin typeface="Arial"/>
                <a:cs typeface="Arial"/>
              </a:rPr>
              <a:t>12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r>
              <a:rPr lang="en-US" altLang="en-US" sz="1600" b="1">
                <a:latin typeface="Arial"/>
                <a:cs typeface="Arial"/>
              </a:rPr>
              <a:t>Challenges and Mitigation Strategies	</a:t>
            </a:r>
            <a:r>
              <a:rPr lang="en-US" altLang="en-US" sz="1600">
                <a:latin typeface="Arial"/>
                <a:cs typeface="Arial"/>
              </a:rPr>
              <a:t>       16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12. </a:t>
            </a:r>
            <a:r>
              <a:rPr lang="en-US" altLang="en-US" sz="16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Performance Metrics			        17</a:t>
            </a:r>
          </a:p>
          <a:p>
            <a:pPr marL="0" indent="0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>
                <a:latin typeface="Arial"/>
                <a:cs typeface="Arial"/>
              </a:rPr>
              <a:t>13. </a:t>
            </a:r>
            <a:r>
              <a:rPr lang="en-US" altLang="en-US" sz="1600" b="1">
                <a:latin typeface="Arial"/>
                <a:cs typeface="Arial"/>
              </a:rPr>
              <a:t>​Extension and Future Scope		        18</a:t>
            </a:r>
            <a:r>
              <a:rPr lang="en-US" altLang="en-US" sz="1600">
                <a:latin typeface="Arial"/>
                <a:cs typeface="Arial"/>
              </a:rPr>
              <a:t>                      		                                                      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>
                <a:latin typeface="Arial"/>
                <a:cs typeface="Arial"/>
              </a:rPr>
              <a:t>                                                            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91F905-0413-DF62-0091-2F2BE9575758}"/>
              </a:ext>
            </a:extLst>
          </p:cNvPr>
          <p:cNvSpPr txBox="1"/>
          <p:nvPr/>
        </p:nvSpPr>
        <p:spPr>
          <a:xfrm>
            <a:off x="8982369" y="824970"/>
            <a:ext cx="16018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Slide No:</a:t>
            </a:r>
          </a:p>
        </p:txBody>
      </p:sp>
      <p:sp>
        <p:nvSpPr>
          <p:cNvPr id="14" name="Teardrop 13">
            <a:extLst>
              <a:ext uri="{FF2B5EF4-FFF2-40B4-BE49-F238E27FC236}">
                <a16:creationId xmlns:a16="http://schemas.microsoft.com/office/drawing/2014/main" id="{F14001B8-1575-534A-36FF-8A894CCE841E}"/>
              </a:ext>
            </a:extLst>
          </p:cNvPr>
          <p:cNvSpPr/>
          <p:nvPr/>
        </p:nvSpPr>
        <p:spPr>
          <a:xfrm>
            <a:off x="10330296" y="-3047"/>
            <a:ext cx="1861915" cy="707226"/>
          </a:xfrm>
          <a:prstGeom prst="teardrop">
            <a:avLst/>
          </a:prstGeom>
          <a:solidFill>
            <a:schemeClr val="accent1">
              <a:lumMod val="75000"/>
            </a:schemeClr>
          </a:solidFill>
          <a:effectLst>
            <a:outerShdw blurRad="190500" dist="190500" dir="348000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A54D7A-E541-261D-DFD0-7FD8AE04B4B4}"/>
              </a:ext>
            </a:extLst>
          </p:cNvPr>
          <p:cNvSpPr txBox="1"/>
          <p:nvPr/>
        </p:nvSpPr>
        <p:spPr>
          <a:xfrm>
            <a:off x="10819371" y="164458"/>
            <a:ext cx="11142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Slide 2</a:t>
            </a:r>
          </a:p>
        </p:txBody>
      </p:sp>
    </p:spTree>
    <p:extLst>
      <p:ext uri="{BB962C8B-B14F-4D97-AF65-F5344CB8AC3E}">
        <p14:creationId xmlns:p14="http://schemas.microsoft.com/office/powerpoint/2010/main" val="1612372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6D873FA-6B53-473D-E056-9BE7A2980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Project Overview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CC186B-95C0-E4D8-813B-AB258AB58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863" y="1902863"/>
            <a:ext cx="11719064" cy="474816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sz="1700" b="1"/>
              <a:t>Core Function :</a:t>
            </a:r>
          </a:p>
          <a:p>
            <a:r>
              <a:rPr lang="en-US" sz="1700"/>
              <a:t>Detect objects, analyze paths, and give continuous voice guidance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IN" sz="1700" b="1"/>
              <a:t>Key Innovation</a:t>
            </a:r>
            <a:r>
              <a:rPr lang="en-IN" sz="1700"/>
              <a:t>:</a:t>
            </a:r>
            <a:endParaRPr lang="en-US" sz="1700"/>
          </a:p>
          <a:p>
            <a:r>
              <a:rPr lang="en-IN" sz="1700"/>
              <a:t>Combines computer vision + fuzzy logic + voice assistance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700" b="1"/>
              <a:t>Key Objectives:</a:t>
            </a:r>
            <a:endParaRPr lang="en-US" sz="1700"/>
          </a:p>
          <a:p>
            <a:r>
              <a:rPr lang="en-US" sz="1700"/>
              <a:t>Develop an intelligent navigation system that provides real-time voice instructions</a:t>
            </a:r>
          </a:p>
          <a:p>
            <a:r>
              <a:rPr lang="en-US" sz="1700"/>
              <a:t>Estimate distance, orientation, and confidence for detected  objects</a:t>
            </a:r>
          </a:p>
          <a:p>
            <a:r>
              <a:rPr lang="en-US" sz="1700"/>
              <a:t>Fuse camera input using fuzzy logic rules</a:t>
            </a:r>
          </a:p>
          <a:p>
            <a:r>
              <a:rPr lang="en-US" sz="1700"/>
              <a:t>Provide anticipatory turn instructions confirmed by visual cues</a:t>
            </a:r>
          </a:p>
          <a:p>
            <a:endParaRPr lang="en-IN"/>
          </a:p>
        </p:txBody>
      </p:sp>
      <p:sp>
        <p:nvSpPr>
          <p:cNvPr id="3" name="Teardrop 2">
            <a:extLst>
              <a:ext uri="{FF2B5EF4-FFF2-40B4-BE49-F238E27FC236}">
                <a16:creationId xmlns:a16="http://schemas.microsoft.com/office/drawing/2014/main" id="{A09A657E-D432-5070-5826-11856F7BE40C}"/>
              </a:ext>
            </a:extLst>
          </p:cNvPr>
          <p:cNvSpPr/>
          <p:nvPr/>
        </p:nvSpPr>
        <p:spPr>
          <a:xfrm>
            <a:off x="10330296" y="-3047"/>
            <a:ext cx="1861915" cy="707226"/>
          </a:xfrm>
          <a:prstGeom prst="teardrop">
            <a:avLst/>
          </a:prstGeom>
          <a:solidFill>
            <a:schemeClr val="accent1">
              <a:lumMod val="75000"/>
            </a:schemeClr>
          </a:solidFill>
          <a:effectLst>
            <a:outerShdw blurRad="190500" dist="190500" dir="348000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D8865-7DAB-7552-6CB8-CF5BEF481F24}"/>
              </a:ext>
            </a:extLst>
          </p:cNvPr>
          <p:cNvSpPr txBox="1"/>
          <p:nvPr/>
        </p:nvSpPr>
        <p:spPr>
          <a:xfrm>
            <a:off x="10819371" y="164458"/>
            <a:ext cx="11142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Slide 3</a:t>
            </a:r>
          </a:p>
        </p:txBody>
      </p:sp>
    </p:spTree>
    <p:extLst>
      <p:ext uri="{BB962C8B-B14F-4D97-AF65-F5344CB8AC3E}">
        <p14:creationId xmlns:p14="http://schemas.microsoft.com/office/powerpoint/2010/main" val="836977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64A39-B455-1181-FCA9-905DAFA3A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 Statement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EA194F-4FF6-4A3A-2082-61E1E1948AAA}"/>
              </a:ext>
            </a:extLst>
          </p:cNvPr>
          <p:cNvSpPr/>
          <p:nvPr/>
        </p:nvSpPr>
        <p:spPr>
          <a:xfrm>
            <a:off x="551271" y="2117148"/>
            <a:ext cx="5117357" cy="4396459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  <a:effectLst>
            <a:outerShdw blurRad="127000" dist="342900" dir="19440000">
              <a:srgbClr val="000000">
                <a:alpha val="57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Visual-only instructions (distracting)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No real-time obstacle awareness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No turn opportunity detection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No voice-based immediate warnings</a:t>
            </a:r>
          </a:p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7A70BA-AF3C-F5C9-4D33-A84E2BC4E372}"/>
              </a:ext>
            </a:extLst>
          </p:cNvPr>
          <p:cNvSpPr/>
          <p:nvPr/>
        </p:nvSpPr>
        <p:spPr>
          <a:xfrm>
            <a:off x="6095998" y="2174874"/>
            <a:ext cx="5117357" cy="4338731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  <a:effectLst>
            <a:outerShdw blurRad="203200" dist="292100" dir="18420000">
              <a:srgbClr val="000000">
                <a:alpha val="5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Continuous voice instructions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Real-time object detection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Smart path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Emergency alert message</a:t>
            </a:r>
          </a:p>
          <a:p>
            <a:br>
              <a:rPr lang="en-US"/>
            </a:br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957F019-3281-74B4-3C71-DF61BB161902}"/>
              </a:ext>
            </a:extLst>
          </p:cNvPr>
          <p:cNvSpPr/>
          <p:nvPr/>
        </p:nvSpPr>
        <p:spPr>
          <a:xfrm>
            <a:off x="551271" y="2117148"/>
            <a:ext cx="5117357" cy="635437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6A154CA-EF60-62F6-A8E3-04139F3E7CA8}"/>
              </a:ext>
            </a:extLst>
          </p:cNvPr>
          <p:cNvSpPr/>
          <p:nvPr/>
        </p:nvSpPr>
        <p:spPr>
          <a:xfrm>
            <a:off x="6095998" y="2174875"/>
            <a:ext cx="5117357" cy="635437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57ED10-E298-8663-3709-068EE1DD007F}"/>
              </a:ext>
            </a:extLst>
          </p:cNvPr>
          <p:cNvSpPr txBox="1"/>
          <p:nvPr/>
        </p:nvSpPr>
        <p:spPr>
          <a:xfrm>
            <a:off x="1305418" y="2250200"/>
            <a:ext cx="4295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Current Navigation Limitations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0005E8-29F0-E372-B35E-BE1186294620}"/>
              </a:ext>
            </a:extLst>
          </p:cNvPr>
          <p:cNvSpPr txBox="1"/>
          <p:nvPr/>
        </p:nvSpPr>
        <p:spPr>
          <a:xfrm>
            <a:off x="7620000" y="2290920"/>
            <a:ext cx="29502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Our Solution</a:t>
            </a:r>
          </a:p>
          <a:p>
            <a:endParaRPr lang="en-IN" sz="2400" b="1"/>
          </a:p>
        </p:txBody>
      </p:sp>
      <p:sp>
        <p:nvSpPr>
          <p:cNvPr id="4" name="Teardrop 3">
            <a:extLst>
              <a:ext uri="{FF2B5EF4-FFF2-40B4-BE49-F238E27FC236}">
                <a16:creationId xmlns:a16="http://schemas.microsoft.com/office/drawing/2014/main" id="{DA080298-DFA8-D3F1-B9C2-747050824427}"/>
              </a:ext>
            </a:extLst>
          </p:cNvPr>
          <p:cNvSpPr/>
          <p:nvPr/>
        </p:nvSpPr>
        <p:spPr>
          <a:xfrm>
            <a:off x="10330296" y="-3047"/>
            <a:ext cx="1861915" cy="707226"/>
          </a:xfrm>
          <a:prstGeom prst="teardrop">
            <a:avLst/>
          </a:prstGeom>
          <a:solidFill>
            <a:schemeClr val="accent1">
              <a:lumMod val="75000"/>
            </a:schemeClr>
          </a:solidFill>
          <a:effectLst>
            <a:outerShdw blurRad="190500" dist="190500" dir="348000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F4584E-FFE5-86A3-370B-68FBFDD2E154}"/>
              </a:ext>
            </a:extLst>
          </p:cNvPr>
          <p:cNvSpPr txBox="1"/>
          <p:nvPr/>
        </p:nvSpPr>
        <p:spPr>
          <a:xfrm>
            <a:off x="10819371" y="164458"/>
            <a:ext cx="11142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Slide 4</a:t>
            </a:r>
          </a:p>
        </p:txBody>
      </p:sp>
    </p:spTree>
    <p:extLst>
      <p:ext uri="{BB962C8B-B14F-4D97-AF65-F5344CB8AC3E}">
        <p14:creationId xmlns:p14="http://schemas.microsoft.com/office/powerpoint/2010/main" val="29334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538BDF-6FCF-6380-BB4A-2EC9E650F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/>
              <a:t>System Architecture</a:t>
            </a:r>
          </a:p>
        </p:txBody>
      </p:sp>
      <p:sp>
        <p:nvSpPr>
          <p:cNvPr id="10" name="Teardrop 9">
            <a:extLst>
              <a:ext uri="{FF2B5EF4-FFF2-40B4-BE49-F238E27FC236}">
                <a16:creationId xmlns:a16="http://schemas.microsoft.com/office/drawing/2014/main" id="{0BC59A66-396F-F382-9162-9DB75445F1AD}"/>
              </a:ext>
            </a:extLst>
          </p:cNvPr>
          <p:cNvSpPr/>
          <p:nvPr/>
        </p:nvSpPr>
        <p:spPr>
          <a:xfrm>
            <a:off x="10330296" y="-3047"/>
            <a:ext cx="1861915" cy="707226"/>
          </a:xfrm>
          <a:prstGeom prst="teardrop">
            <a:avLst/>
          </a:prstGeom>
          <a:solidFill>
            <a:schemeClr val="accent1">
              <a:lumMod val="75000"/>
            </a:schemeClr>
          </a:solidFill>
          <a:effectLst>
            <a:outerShdw blurRad="190500" dist="190500" dir="348000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51BB85-1D93-D191-E461-E5FAD4A0F1D9}"/>
              </a:ext>
            </a:extLst>
          </p:cNvPr>
          <p:cNvSpPr txBox="1"/>
          <p:nvPr/>
        </p:nvSpPr>
        <p:spPr>
          <a:xfrm>
            <a:off x="10819371" y="164458"/>
            <a:ext cx="11142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Slide 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D9F758-234D-FD4D-0413-412E7289E6FE}"/>
              </a:ext>
            </a:extLst>
          </p:cNvPr>
          <p:cNvSpPr/>
          <p:nvPr/>
        </p:nvSpPr>
        <p:spPr>
          <a:xfrm>
            <a:off x="7277759" y="1244435"/>
            <a:ext cx="3730831" cy="5838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49922B2-5320-DBC6-F40F-1FF5CC4F9FAA}"/>
              </a:ext>
            </a:extLst>
          </p:cNvPr>
          <p:cNvSpPr/>
          <p:nvPr/>
        </p:nvSpPr>
        <p:spPr>
          <a:xfrm>
            <a:off x="7254828" y="2283457"/>
            <a:ext cx="3730830" cy="5727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YOLO Object Detection</a:t>
            </a:r>
          </a:p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F5CFC7-69EA-F52E-B440-2338AC32F1EA}"/>
              </a:ext>
            </a:extLst>
          </p:cNvPr>
          <p:cNvSpPr txBox="1"/>
          <p:nvPr/>
        </p:nvSpPr>
        <p:spPr>
          <a:xfrm>
            <a:off x="7615711" y="1305486"/>
            <a:ext cx="305093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/>
              <a:t>Camera/Image Input</a:t>
            </a:r>
          </a:p>
          <a:p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221B6F6-3E41-3B38-967E-35A67285093E}"/>
              </a:ext>
            </a:extLst>
          </p:cNvPr>
          <p:cNvSpPr/>
          <p:nvPr/>
        </p:nvSpPr>
        <p:spPr>
          <a:xfrm>
            <a:off x="7254828" y="3296903"/>
            <a:ext cx="3730831" cy="5727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en-IN"/>
              <a:t>         Fuzzy Logic Analysis</a:t>
            </a:r>
          </a:p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DDB364B-332D-02FC-8000-F5AA9463C188}"/>
              </a:ext>
            </a:extLst>
          </p:cNvPr>
          <p:cNvSpPr/>
          <p:nvPr/>
        </p:nvSpPr>
        <p:spPr>
          <a:xfrm>
            <a:off x="7250673" y="4310349"/>
            <a:ext cx="3730830" cy="5727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en-IN"/>
              <a:t>          Navigation Decision</a:t>
            </a:r>
          </a:p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DB27101-6924-46F0-0727-CD46FAAD6D5C}"/>
              </a:ext>
            </a:extLst>
          </p:cNvPr>
          <p:cNvSpPr/>
          <p:nvPr/>
        </p:nvSpPr>
        <p:spPr>
          <a:xfrm>
            <a:off x="7066232" y="5338273"/>
            <a:ext cx="4099711" cy="7357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en-IN"/>
              <a:t>Voice Instructions + Visual Display</a:t>
            </a:r>
          </a:p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287A2198-A868-860F-7975-560BC513938B}"/>
              </a:ext>
            </a:extLst>
          </p:cNvPr>
          <p:cNvSpPr/>
          <p:nvPr/>
        </p:nvSpPr>
        <p:spPr>
          <a:xfrm>
            <a:off x="8858774" y="1811947"/>
            <a:ext cx="348395" cy="4865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05327139-76E3-916C-6EC0-7867D8AE8450}"/>
              </a:ext>
            </a:extLst>
          </p:cNvPr>
          <p:cNvSpPr/>
          <p:nvPr/>
        </p:nvSpPr>
        <p:spPr>
          <a:xfrm>
            <a:off x="8858773" y="2860686"/>
            <a:ext cx="348395" cy="4865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7320915F-C664-3D32-50AB-71640452600D}"/>
              </a:ext>
            </a:extLst>
          </p:cNvPr>
          <p:cNvSpPr/>
          <p:nvPr/>
        </p:nvSpPr>
        <p:spPr>
          <a:xfrm>
            <a:off x="8854829" y="3874132"/>
            <a:ext cx="348395" cy="4865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A9085BA4-D469-0833-DA18-73593A1A3815}"/>
              </a:ext>
            </a:extLst>
          </p:cNvPr>
          <p:cNvSpPr/>
          <p:nvPr/>
        </p:nvSpPr>
        <p:spPr>
          <a:xfrm>
            <a:off x="8852005" y="4832777"/>
            <a:ext cx="348395" cy="4865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492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EBC277-AD68-1638-CB25-6C3E5BB4C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/>
              <a:t>Key Components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EC1293E1-7A8A-CB25-BB56-79388691562B}"/>
              </a:ext>
            </a:extLst>
          </p:cNvPr>
          <p:cNvSpPr/>
          <p:nvPr/>
        </p:nvSpPr>
        <p:spPr>
          <a:xfrm>
            <a:off x="226503" y="2608976"/>
            <a:ext cx="2801922" cy="3229762"/>
          </a:xfrm>
          <a:prstGeom prst="round2Diag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/>
              <a:t> </a:t>
            </a:r>
            <a:r>
              <a:rPr lang="en-IN" b="1"/>
              <a:t>Object Detection (YOLOv8)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Detects</a:t>
            </a:r>
            <a:r>
              <a:rPr lang="en-US" sz="1600"/>
              <a:t>: Cars, pedestrians, traffic signals, bicycles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Calculates</a:t>
            </a:r>
            <a:r>
              <a:rPr lang="en-US" sz="1600"/>
              <a:t>: Distance, position, urgency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Real-time</a:t>
            </a:r>
            <a:r>
              <a:rPr lang="en-US" sz="1600"/>
              <a:t>: 30 FPS processing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699411E2-E3F9-1DE3-E6BA-AD0D17EE07D3}"/>
              </a:ext>
            </a:extLst>
          </p:cNvPr>
          <p:cNvSpPr/>
          <p:nvPr/>
        </p:nvSpPr>
        <p:spPr>
          <a:xfrm>
            <a:off x="3305262" y="2608976"/>
            <a:ext cx="2680984" cy="3229762"/>
          </a:xfrm>
          <a:prstGeom prst="round2DiagRect">
            <a:avLst/>
          </a:prstGeom>
          <a:solidFill>
            <a:schemeClr val="tx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/>
              <a:t>Fuzzy Logic Engine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Inputs</a:t>
            </a:r>
            <a:r>
              <a:rPr lang="en-US" sz="1600"/>
              <a:t>: Distance, confidence, priority, position, 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Outputs</a:t>
            </a:r>
            <a:r>
              <a:rPr lang="en-US" sz="1600"/>
              <a:t>: Urgency level, safety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30+ Rules</a:t>
            </a:r>
            <a:r>
              <a:rPr lang="en-US" sz="1600"/>
              <a:t>: Smart decision making</a:t>
            </a: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5885E548-0124-F05C-0FAF-56113CC3189B}"/>
              </a:ext>
            </a:extLst>
          </p:cNvPr>
          <p:cNvSpPr/>
          <p:nvPr/>
        </p:nvSpPr>
        <p:spPr>
          <a:xfrm>
            <a:off x="6205756" y="2608976"/>
            <a:ext cx="2602684" cy="3229762"/>
          </a:xfrm>
          <a:prstGeom prst="round2Diag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>
                <a:solidFill>
                  <a:schemeClr val="bg1"/>
                </a:solidFill>
              </a:rPr>
              <a:t>Spatial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bg1"/>
                </a:solidFill>
              </a:rPr>
              <a:t>5 Navigation Zones:</a:t>
            </a:r>
            <a:endParaRPr 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Center (Direct path)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Left/Right turn zones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Far Left/Right (Sharp turns)</a:t>
            </a:r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9430036B-4A0B-D95F-781C-C897D7FC6640}"/>
              </a:ext>
            </a:extLst>
          </p:cNvPr>
          <p:cNvSpPr/>
          <p:nvPr/>
        </p:nvSpPr>
        <p:spPr>
          <a:xfrm>
            <a:off x="9163575" y="2608976"/>
            <a:ext cx="2801922" cy="3229762"/>
          </a:xfrm>
          <a:prstGeom prst="round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>
                <a:solidFill>
                  <a:schemeClr val="bg1"/>
                </a:solidFill>
              </a:rPr>
              <a:t>Voice System</a:t>
            </a:r>
          </a:p>
          <a:p>
            <a:r>
              <a:rPr lang="en-IN" b="1">
                <a:solidFill>
                  <a:schemeClr val="bg1"/>
                </a:solidFill>
              </a:rPr>
              <a:t>Integration:</a:t>
            </a:r>
            <a:endParaRPr lang="en-IN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bg1"/>
                </a:solidFill>
              </a:rPr>
              <a:t>Continuous</a:t>
            </a:r>
            <a:r>
              <a:rPr lang="en-US" sz="1600">
                <a:solidFill>
                  <a:schemeClr val="bg1"/>
                </a:solidFill>
              </a:rPr>
              <a:t>: Speaks instructions every 3 seconds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bg1"/>
                </a:solidFill>
              </a:rPr>
              <a:t>Immediate</a:t>
            </a:r>
            <a:r>
              <a:rPr lang="en-US" sz="1600">
                <a:solidFill>
                  <a:schemeClr val="bg1"/>
                </a:solidFill>
              </a:rPr>
              <a:t>: Alerts for emergencies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bg1"/>
                </a:solidFill>
              </a:rPr>
              <a:t>Clear</a:t>
            </a:r>
            <a:r>
              <a:rPr lang="en-US" sz="1600">
                <a:solidFill>
                  <a:schemeClr val="bg1"/>
                </a:solidFill>
              </a:rPr>
              <a:t>: Simple, actionable commands</a:t>
            </a:r>
          </a:p>
          <a:p>
            <a:pPr algn="ctr"/>
            <a:endParaRPr lang="en-IN"/>
          </a:p>
        </p:txBody>
      </p:sp>
      <p:sp>
        <p:nvSpPr>
          <p:cNvPr id="3" name="Teardrop 2">
            <a:extLst>
              <a:ext uri="{FF2B5EF4-FFF2-40B4-BE49-F238E27FC236}">
                <a16:creationId xmlns:a16="http://schemas.microsoft.com/office/drawing/2014/main" id="{6943F9AB-7A99-F517-18F5-98FE0BB3EE3F}"/>
              </a:ext>
            </a:extLst>
          </p:cNvPr>
          <p:cNvSpPr/>
          <p:nvPr/>
        </p:nvSpPr>
        <p:spPr>
          <a:xfrm>
            <a:off x="10330296" y="-3047"/>
            <a:ext cx="1861915" cy="707226"/>
          </a:xfrm>
          <a:prstGeom prst="teardrop">
            <a:avLst/>
          </a:prstGeom>
          <a:solidFill>
            <a:schemeClr val="accent1">
              <a:lumMod val="75000"/>
            </a:schemeClr>
          </a:solidFill>
          <a:effectLst>
            <a:outerShdw blurRad="190500" dist="190500" dir="348000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BDBD4-D474-AA38-A214-368BE1E9D99C}"/>
              </a:ext>
            </a:extLst>
          </p:cNvPr>
          <p:cNvSpPr txBox="1"/>
          <p:nvPr/>
        </p:nvSpPr>
        <p:spPr>
          <a:xfrm>
            <a:off x="10819371" y="164458"/>
            <a:ext cx="11142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Slide 6</a:t>
            </a:r>
          </a:p>
        </p:txBody>
      </p:sp>
    </p:spTree>
    <p:extLst>
      <p:ext uri="{BB962C8B-B14F-4D97-AF65-F5344CB8AC3E}">
        <p14:creationId xmlns:p14="http://schemas.microsoft.com/office/powerpoint/2010/main" val="2649577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0D3A42-98B1-8046-8308-2FFBE0126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Navigation Instructions</a:t>
            </a:r>
            <a:br>
              <a:rPr lang="en-IN"/>
            </a:b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2995C-E5DF-6BBD-BA48-093CA6041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Voice Commands</a:t>
            </a:r>
            <a:endParaRPr lang="en-IN" b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DC5836-B534-FFFE-8EE2-FDB6F85AA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4729" y="3028426"/>
            <a:ext cx="5189856" cy="283262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🟢 </a:t>
            </a:r>
            <a:r>
              <a:rPr lang="en-US" b="1"/>
              <a:t>"Continue straight - Path clear"</a:t>
            </a:r>
            <a:endParaRPr lang="en-US"/>
          </a:p>
          <a:p>
            <a:pPr marL="0" indent="0">
              <a:buNone/>
            </a:pPr>
            <a:r>
              <a:rPr lang="en-US"/>
              <a:t>🟡 </a:t>
            </a:r>
            <a:r>
              <a:rPr lang="en-US" b="1"/>
              <a:t>"Proceed with caution - Object ahead"</a:t>
            </a:r>
            <a:endParaRPr lang="en-US"/>
          </a:p>
          <a:p>
            <a:pPr marL="0" indent="0">
              <a:buNone/>
            </a:pPr>
            <a:r>
              <a:rPr lang="en-US"/>
              <a:t>🟠 </a:t>
            </a:r>
            <a:r>
              <a:rPr lang="en-US" b="1"/>
              <a:t>"Slow down - Pedestrian crossing"</a:t>
            </a:r>
            <a:endParaRPr lang="en-US"/>
          </a:p>
          <a:p>
            <a:pPr marL="0" indent="0">
              <a:buNone/>
            </a:pPr>
            <a:r>
              <a:rPr lang="en-US"/>
              <a:t>🔴 </a:t>
            </a:r>
            <a:r>
              <a:rPr lang="en-US" b="1"/>
              <a:t>"EMERGENCY STOP - Obstacle detected!"</a:t>
            </a:r>
            <a:endParaRPr lang="en-US"/>
          </a:p>
          <a:p>
            <a:pPr marL="0" indent="0">
              <a:buNone/>
            </a:pPr>
            <a:r>
              <a:rPr lang="en-US"/>
              <a:t>🔵 </a:t>
            </a:r>
            <a:r>
              <a:rPr lang="en-US" b="1"/>
              <a:t>"Left turn available - Clear path"</a:t>
            </a:r>
            <a:endParaRPr lang="en-US"/>
          </a:p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B58430-F1DA-91B0-24DC-417DA21F4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/>
              <a:t>Visual Display</a:t>
            </a:r>
            <a:endParaRPr lang="en-IN" b="1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7CE31F9-1E44-81C0-2A48-05BB3707D3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8246" y="3028426"/>
            <a:ext cx="4863752" cy="2832625"/>
          </a:xfrm>
        </p:spPr>
        <p:txBody>
          <a:bodyPr/>
          <a:lstStyle/>
          <a:p>
            <a:r>
              <a:rPr lang="en-US"/>
              <a:t>Color-coded bounding boxes</a:t>
            </a:r>
          </a:p>
          <a:p>
            <a:r>
              <a:rPr lang="en-US"/>
              <a:t>Zone clearance indicators</a:t>
            </a:r>
          </a:p>
          <a:p>
            <a:r>
              <a:rPr lang="en-US"/>
              <a:t>Real-time action display</a:t>
            </a:r>
          </a:p>
          <a:p>
            <a:r>
              <a:rPr lang="en-US"/>
              <a:t>FPS and speed overlay</a:t>
            </a:r>
          </a:p>
          <a:p>
            <a:pPr marL="0" indent="0">
              <a:buNone/>
            </a:pPr>
            <a:br>
              <a:rPr lang="en-US"/>
            </a:br>
            <a:endParaRPr lang="en-IN"/>
          </a:p>
        </p:txBody>
      </p:sp>
      <p:sp>
        <p:nvSpPr>
          <p:cNvPr id="8" name="Teardrop 7">
            <a:extLst>
              <a:ext uri="{FF2B5EF4-FFF2-40B4-BE49-F238E27FC236}">
                <a16:creationId xmlns:a16="http://schemas.microsoft.com/office/drawing/2014/main" id="{EA50C100-CC33-1529-083A-BA4C1AD0BB43}"/>
              </a:ext>
            </a:extLst>
          </p:cNvPr>
          <p:cNvSpPr/>
          <p:nvPr/>
        </p:nvSpPr>
        <p:spPr>
          <a:xfrm>
            <a:off x="10330296" y="-3047"/>
            <a:ext cx="1861915" cy="707226"/>
          </a:xfrm>
          <a:prstGeom prst="teardrop">
            <a:avLst/>
          </a:prstGeom>
          <a:solidFill>
            <a:schemeClr val="accent1">
              <a:lumMod val="75000"/>
            </a:schemeClr>
          </a:solidFill>
          <a:effectLst>
            <a:outerShdw blurRad="190500" dist="190500" dir="348000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32D57D-1940-8C99-CE97-399CF7A16084}"/>
              </a:ext>
            </a:extLst>
          </p:cNvPr>
          <p:cNvSpPr txBox="1"/>
          <p:nvPr/>
        </p:nvSpPr>
        <p:spPr>
          <a:xfrm>
            <a:off x="10620462" y="176169"/>
            <a:ext cx="1308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Slide 7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212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BBECEF-D2CC-DE9D-2E0C-012A921FE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727" y="327172"/>
            <a:ext cx="9495343" cy="669780"/>
          </a:xfrm>
        </p:spPr>
        <p:txBody>
          <a:bodyPr>
            <a:noAutofit/>
          </a:bodyPr>
          <a:lstStyle/>
          <a:p>
            <a:r>
              <a:rPr lang="en-IN" sz="3600" b="1"/>
              <a:t>Technical Features</a:t>
            </a:r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3ADE8390-E62C-C833-D0C9-1066C2CD1444}"/>
              </a:ext>
            </a:extLst>
          </p:cNvPr>
          <p:cNvSpPr/>
          <p:nvPr/>
        </p:nvSpPr>
        <p:spPr>
          <a:xfrm>
            <a:off x="221500" y="1482364"/>
            <a:ext cx="5843090" cy="1785730"/>
          </a:xfrm>
          <a:prstGeom prst="teardrop">
            <a:avLst>
              <a:gd name="adj" fmla="val 100868"/>
            </a:avLst>
          </a:prstGeom>
          <a:solidFill>
            <a:schemeClr val="accent1">
              <a:lumMod val="50000"/>
            </a:schemeClr>
          </a:solidFill>
          <a:effectLst>
            <a:outerShdw blurRad="114300" dist="482600" dir="18780000">
              <a:srgbClr val="A1A1A1">
                <a:alpha val="61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/>
              <a:t>Real-time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Live camera feed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Instant voice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Continuous monitoring</a:t>
            </a:r>
          </a:p>
          <a:p>
            <a:pPr algn="ctr"/>
            <a:endParaRPr lang="en-IN"/>
          </a:p>
        </p:txBody>
      </p:sp>
      <p:sp>
        <p:nvSpPr>
          <p:cNvPr id="9" name="Teardrop 8">
            <a:extLst>
              <a:ext uri="{FF2B5EF4-FFF2-40B4-BE49-F238E27FC236}">
                <a16:creationId xmlns:a16="http://schemas.microsoft.com/office/drawing/2014/main" id="{3E983DE6-C1E1-4E6C-5C72-71C96FFE0084}"/>
              </a:ext>
            </a:extLst>
          </p:cNvPr>
          <p:cNvSpPr/>
          <p:nvPr/>
        </p:nvSpPr>
        <p:spPr>
          <a:xfrm flipH="1">
            <a:off x="6030209" y="2876300"/>
            <a:ext cx="5420560" cy="1785730"/>
          </a:xfrm>
          <a:prstGeom prst="teardrop">
            <a:avLst>
              <a:gd name="adj" fmla="val 101201"/>
            </a:avLst>
          </a:prstGeom>
          <a:solidFill>
            <a:schemeClr val="accent1">
              <a:lumMod val="60000"/>
              <a:lumOff val="40000"/>
            </a:schemeClr>
          </a:solidFill>
          <a:effectLst>
            <a:outerShdw blurRad="101600" dist="457200" dir="18600000">
              <a:srgbClr val="909090">
                <a:alpha val="61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IN" b="1">
                <a:solidFill>
                  <a:schemeClr val="bg1"/>
                </a:solidFill>
              </a:rPr>
              <a:t>Smart Decision 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Object priority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Distance-based urgency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Turn opportunity detection</a:t>
            </a:r>
          </a:p>
          <a:p>
            <a:pPr algn="ctr"/>
            <a:endParaRPr lang="en-IN"/>
          </a:p>
        </p:txBody>
      </p:sp>
      <p:sp>
        <p:nvSpPr>
          <p:cNvPr id="10" name="Teardrop 9">
            <a:extLst>
              <a:ext uri="{FF2B5EF4-FFF2-40B4-BE49-F238E27FC236}">
                <a16:creationId xmlns:a16="http://schemas.microsoft.com/office/drawing/2014/main" id="{CFD5C010-FC82-8599-A28D-5D69705D9764}"/>
              </a:ext>
            </a:extLst>
          </p:cNvPr>
          <p:cNvSpPr/>
          <p:nvPr/>
        </p:nvSpPr>
        <p:spPr>
          <a:xfrm>
            <a:off x="255880" y="4254577"/>
            <a:ext cx="5843090" cy="1785730"/>
          </a:xfrm>
          <a:prstGeom prst="teardrop">
            <a:avLst>
              <a:gd name="adj" fmla="val 100868"/>
            </a:avLst>
          </a:prstGeom>
          <a:solidFill>
            <a:schemeClr val="accent1"/>
          </a:solidFill>
          <a:effectLst>
            <a:outerShdw blurRad="127000" dist="482600" dir="18420000">
              <a:srgbClr val="A1A1A1">
                <a:alpha val="6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IN" b="1"/>
              <a:t>Safety First</a:t>
            </a:r>
          </a:p>
          <a:p>
            <a:r>
              <a:rPr lang="en-US" sz="1600"/>
              <a:t>Emergency stop detection</a:t>
            </a:r>
          </a:p>
          <a:p>
            <a:r>
              <a:rPr lang="en-US" sz="1600"/>
              <a:t>Yield to pedestrians</a:t>
            </a:r>
          </a:p>
          <a:p>
            <a:r>
              <a:rPr lang="en-US" sz="1600"/>
              <a:t>Traffic signal awareness</a:t>
            </a:r>
          </a:p>
          <a:p>
            <a:br>
              <a:rPr lang="en-US" sz="1600"/>
            </a:br>
            <a:endParaRPr lang="en-IN" sz="1600"/>
          </a:p>
        </p:txBody>
      </p:sp>
      <p:sp>
        <p:nvSpPr>
          <p:cNvPr id="3" name="Teardrop 2">
            <a:extLst>
              <a:ext uri="{FF2B5EF4-FFF2-40B4-BE49-F238E27FC236}">
                <a16:creationId xmlns:a16="http://schemas.microsoft.com/office/drawing/2014/main" id="{B2F347F4-BE2D-7AF4-5C9D-76D4B068C50E}"/>
              </a:ext>
            </a:extLst>
          </p:cNvPr>
          <p:cNvSpPr/>
          <p:nvPr/>
        </p:nvSpPr>
        <p:spPr>
          <a:xfrm>
            <a:off x="10330296" y="-3047"/>
            <a:ext cx="1861915" cy="707226"/>
          </a:xfrm>
          <a:prstGeom prst="teardrop">
            <a:avLst/>
          </a:prstGeom>
          <a:solidFill>
            <a:schemeClr val="accent1">
              <a:lumMod val="75000"/>
            </a:schemeClr>
          </a:solidFill>
          <a:effectLst>
            <a:outerShdw blurRad="190500" dist="190500" dir="348000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D28CBA-4995-48C6-A5C4-17F9BE67C59B}"/>
              </a:ext>
            </a:extLst>
          </p:cNvPr>
          <p:cNvSpPr txBox="1"/>
          <p:nvPr/>
        </p:nvSpPr>
        <p:spPr>
          <a:xfrm>
            <a:off x="10819371" y="164458"/>
            <a:ext cx="11142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Slide 8</a:t>
            </a:r>
          </a:p>
        </p:txBody>
      </p:sp>
    </p:spTree>
    <p:extLst>
      <p:ext uri="{BB962C8B-B14F-4D97-AF65-F5344CB8AC3E}">
        <p14:creationId xmlns:p14="http://schemas.microsoft.com/office/powerpoint/2010/main" val="1750452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88B24-A50B-FC6B-69CC-71B0FBA05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Scope &amp;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0B4C8-EFA6-4C09-F450-F82AFB35E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22" y="2288911"/>
            <a:ext cx="7189365" cy="1988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/>
              <a:t>Applications:</a:t>
            </a:r>
            <a:endParaRPr lang="en-IN" sz="1600"/>
          </a:p>
          <a:p>
            <a:r>
              <a:rPr lang="en-IN" sz="1600"/>
              <a:t> </a:t>
            </a:r>
            <a:r>
              <a:rPr lang="en-US" sz="1600" b="1"/>
              <a:t>Driver Assistance</a:t>
            </a:r>
            <a:r>
              <a:rPr lang="en-US" sz="1600"/>
              <a:t> - Real-time road guidance</a:t>
            </a:r>
          </a:p>
          <a:p>
            <a:r>
              <a:rPr lang="en-US" sz="1600" b="1"/>
              <a:t>Visually Impaired</a:t>
            </a:r>
            <a:r>
              <a:rPr lang="en-US" sz="1600"/>
              <a:t> - Audio navigation aid</a:t>
            </a:r>
          </a:p>
          <a:p>
            <a:r>
              <a:rPr lang="en-US" sz="1600" b="1"/>
              <a:t>Autonomous Vehicles</a:t>
            </a:r>
            <a:r>
              <a:rPr lang="en-US" sz="1600"/>
              <a:t> - Decision support system</a:t>
            </a:r>
          </a:p>
          <a:p>
            <a:r>
              <a:rPr lang="en-US" sz="1600" b="1"/>
              <a:t>Smart Cities</a:t>
            </a:r>
            <a:r>
              <a:rPr lang="en-US" sz="1600"/>
              <a:t> - Traffic management</a:t>
            </a:r>
          </a:p>
          <a:p>
            <a:endParaRPr lang="en-IN"/>
          </a:p>
        </p:txBody>
      </p:sp>
      <p:sp>
        <p:nvSpPr>
          <p:cNvPr id="5" name="Teardrop 4">
            <a:extLst>
              <a:ext uri="{FF2B5EF4-FFF2-40B4-BE49-F238E27FC236}">
                <a16:creationId xmlns:a16="http://schemas.microsoft.com/office/drawing/2014/main" id="{C692A39A-FC37-4E5E-4B78-C107568F3C9C}"/>
              </a:ext>
            </a:extLst>
          </p:cNvPr>
          <p:cNvSpPr/>
          <p:nvPr/>
        </p:nvSpPr>
        <p:spPr>
          <a:xfrm>
            <a:off x="10330296" y="-3047"/>
            <a:ext cx="1861915" cy="707226"/>
          </a:xfrm>
          <a:prstGeom prst="teardrop">
            <a:avLst/>
          </a:prstGeom>
          <a:solidFill>
            <a:schemeClr val="accent1">
              <a:lumMod val="75000"/>
            </a:schemeClr>
          </a:solidFill>
          <a:effectLst>
            <a:outerShdw blurRad="190500" dist="190500" dir="348000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A1204-F46D-A038-4438-00A2F10F4BCF}"/>
              </a:ext>
            </a:extLst>
          </p:cNvPr>
          <p:cNvSpPr txBox="1"/>
          <p:nvPr/>
        </p:nvSpPr>
        <p:spPr>
          <a:xfrm>
            <a:off x="10819371" y="164458"/>
            <a:ext cx="11142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Slide 9</a:t>
            </a:r>
          </a:p>
        </p:txBody>
      </p:sp>
      <p:pic>
        <p:nvPicPr>
          <p:cNvPr id="8" name="Picture 7" descr="A hand touching a device&#10;&#10;AI-generated content may be incorrect.">
            <a:extLst>
              <a:ext uri="{FF2B5EF4-FFF2-40B4-BE49-F238E27FC236}">
                <a16:creationId xmlns:a16="http://schemas.microsoft.com/office/drawing/2014/main" id="{EA81081E-4311-B6BD-71D2-E81C47D6B8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" t="11364" r="11074" b="19245"/>
          <a:stretch>
            <a:fillRect/>
          </a:stretch>
        </p:blipFill>
        <p:spPr>
          <a:xfrm>
            <a:off x="6102599" y="1897680"/>
            <a:ext cx="6087759" cy="475884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F1BB499-AC05-1B0C-BA33-A25CC49F7760}"/>
              </a:ext>
            </a:extLst>
          </p:cNvPr>
          <p:cNvSpPr txBox="1">
            <a:spLocks/>
          </p:cNvSpPr>
          <p:nvPr/>
        </p:nvSpPr>
        <p:spPr>
          <a:xfrm>
            <a:off x="58723" y="4355914"/>
            <a:ext cx="7189365" cy="198819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/>
              <a:t>Benefits:</a:t>
            </a:r>
          </a:p>
          <a:p>
            <a:pPr marL="0" indent="0">
              <a:buNone/>
            </a:pPr>
            <a:r>
              <a:rPr lang="en-US"/>
              <a:t>✅ Reduced driver distraction</a:t>
            </a:r>
          </a:p>
          <a:p>
            <a:pPr marL="0" indent="0">
              <a:buNone/>
            </a:pPr>
            <a:r>
              <a:rPr lang="en-US"/>
              <a:t>✅ Enhanced safety</a:t>
            </a:r>
          </a:p>
          <a:p>
            <a:pPr marL="0" indent="0">
              <a:buNone/>
            </a:pPr>
            <a:r>
              <a:rPr lang="en-US"/>
              <a:t>✅ Better situational awareness</a:t>
            </a:r>
          </a:p>
          <a:p>
            <a:pPr marL="0" indent="0">
              <a:buNone/>
            </a:pPr>
            <a:r>
              <a:rPr lang="en-US"/>
              <a:t>✅ Accessible navigation</a:t>
            </a:r>
          </a:p>
          <a:p>
            <a:pPr marL="0" indent="0">
              <a:buNone/>
            </a:pPr>
            <a:br>
              <a:rPr lang="en-US" sz="1600"/>
            </a:b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026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C6792F-BB74-2CE0-76C4-98C5AEFF6A12}"/>
              </a:ext>
            </a:extLst>
          </p:cNvPr>
          <p:cNvSpPr txBox="1"/>
          <p:nvPr/>
        </p:nvSpPr>
        <p:spPr>
          <a:xfrm>
            <a:off x="882242" y="92281"/>
            <a:ext cx="1005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/>
              <a:t>Implementation Details</a:t>
            </a:r>
          </a:p>
        </p:txBody>
      </p:sp>
      <p:sp>
        <p:nvSpPr>
          <p:cNvPr id="10" name="Flowchart: Off-page Connector 9">
            <a:extLst>
              <a:ext uri="{FF2B5EF4-FFF2-40B4-BE49-F238E27FC236}">
                <a16:creationId xmlns:a16="http://schemas.microsoft.com/office/drawing/2014/main" id="{BC5DCC69-2525-D804-F90F-0A474E4C6F21}"/>
              </a:ext>
            </a:extLst>
          </p:cNvPr>
          <p:cNvSpPr/>
          <p:nvPr/>
        </p:nvSpPr>
        <p:spPr>
          <a:xfrm>
            <a:off x="2046914" y="677055"/>
            <a:ext cx="7432646" cy="1735273"/>
          </a:xfrm>
          <a:prstGeom prst="flowChartOffpageConnector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6D7ED6-E356-DFB7-51A9-E919DE7B98AD}"/>
              </a:ext>
            </a:extLst>
          </p:cNvPr>
          <p:cNvSpPr txBox="1"/>
          <p:nvPr/>
        </p:nvSpPr>
        <p:spPr>
          <a:xfrm>
            <a:off x="4664279" y="680720"/>
            <a:ext cx="5761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/>
              <a:t>Technologies Used: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91BB9B-7C12-6CD3-82DA-266D160C9A75}"/>
              </a:ext>
            </a:extLst>
          </p:cNvPr>
          <p:cNvSpPr txBox="1"/>
          <p:nvPr/>
        </p:nvSpPr>
        <p:spPr>
          <a:xfrm>
            <a:off x="4061381" y="1128608"/>
            <a:ext cx="5379029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b="1">
                <a:solidFill>
                  <a:schemeClr val="accent2"/>
                </a:solidFill>
              </a:rPr>
              <a:t>Computer Vision</a:t>
            </a:r>
            <a:r>
              <a:rPr lang="en-IN" sz="1400">
                <a:solidFill>
                  <a:schemeClr val="accent2"/>
                </a:solidFill>
              </a:rPr>
              <a:t>: OpenCV, YOLOv8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b="1">
                <a:solidFill>
                  <a:schemeClr val="accent2"/>
                </a:solidFill>
              </a:rPr>
              <a:t>AI Logic</a:t>
            </a:r>
            <a:r>
              <a:rPr lang="en-IN" sz="1400">
                <a:solidFill>
                  <a:schemeClr val="accent2"/>
                </a:solidFill>
              </a:rPr>
              <a:t>: Fuzzy Logic (scikit-fuzzy)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b="1">
                <a:solidFill>
                  <a:schemeClr val="accent2"/>
                </a:solidFill>
              </a:rPr>
              <a:t>Voice</a:t>
            </a:r>
            <a:r>
              <a:rPr lang="en-IN" sz="1400">
                <a:solidFill>
                  <a:schemeClr val="accent2"/>
                </a:solidFill>
              </a:rPr>
              <a:t>: pyttsx3 TTS engine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b="1">
                <a:solidFill>
                  <a:schemeClr val="accent2"/>
                </a:solidFill>
              </a:rPr>
              <a:t>Processing</a:t>
            </a:r>
            <a:r>
              <a:rPr lang="en-IN" sz="1400">
                <a:solidFill>
                  <a:schemeClr val="accent2"/>
                </a:solidFill>
              </a:rPr>
              <a:t>: NumPy, threading</a:t>
            </a:r>
          </a:p>
          <a:p>
            <a:pPr algn="l"/>
            <a:endParaRPr lang="en-US"/>
          </a:p>
        </p:txBody>
      </p:sp>
      <p:sp>
        <p:nvSpPr>
          <p:cNvPr id="18" name="Teardrop 17">
            <a:extLst>
              <a:ext uri="{FF2B5EF4-FFF2-40B4-BE49-F238E27FC236}">
                <a16:creationId xmlns:a16="http://schemas.microsoft.com/office/drawing/2014/main" id="{E040CCF3-A611-A749-528F-52D3CFC48503}"/>
              </a:ext>
            </a:extLst>
          </p:cNvPr>
          <p:cNvSpPr/>
          <p:nvPr/>
        </p:nvSpPr>
        <p:spPr>
          <a:xfrm>
            <a:off x="10330296" y="-3047"/>
            <a:ext cx="1861915" cy="707226"/>
          </a:xfrm>
          <a:prstGeom prst="teardrop">
            <a:avLst/>
          </a:prstGeom>
          <a:solidFill>
            <a:schemeClr val="accent1">
              <a:lumMod val="75000"/>
            </a:schemeClr>
          </a:solidFill>
          <a:effectLst>
            <a:outerShdw blurRad="190500" dist="190500" dir="348000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64FE70-8BB9-13FD-42AF-B0601A9879E9}"/>
              </a:ext>
            </a:extLst>
          </p:cNvPr>
          <p:cNvSpPr txBox="1"/>
          <p:nvPr/>
        </p:nvSpPr>
        <p:spPr>
          <a:xfrm>
            <a:off x="10819371" y="164458"/>
            <a:ext cx="11142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Slide 10</a:t>
            </a: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A97BF1E9-211F-0786-4DCE-3705068BF46B}"/>
              </a:ext>
            </a:extLst>
          </p:cNvPr>
          <p:cNvSpPr/>
          <p:nvPr/>
        </p:nvSpPr>
        <p:spPr>
          <a:xfrm>
            <a:off x="293613" y="2952924"/>
            <a:ext cx="2734811" cy="3684015"/>
          </a:xfrm>
          <a:prstGeom prst="round2DiagRect">
            <a:avLst>
              <a:gd name="adj1" fmla="val 16667"/>
              <a:gd name="adj2" fmla="val 18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99AE0-8211-0E76-787E-50673044B8E6}"/>
              </a:ext>
            </a:extLst>
          </p:cNvPr>
          <p:cNvSpPr txBox="1"/>
          <p:nvPr/>
        </p:nvSpPr>
        <p:spPr>
          <a:xfrm>
            <a:off x="369116" y="3028426"/>
            <a:ext cx="2734811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Computer Vision: OpenCV + YOLOv8</a:t>
            </a:r>
          </a:p>
          <a:p>
            <a:endParaRPr lang="en-US" sz="1600" b="1"/>
          </a:p>
          <a:p>
            <a:r>
              <a:rPr lang="en-US" sz="1400" b="1"/>
              <a:t>The Eyes of Our System</a:t>
            </a:r>
          </a:p>
          <a:p>
            <a:endParaRPr lang="en-US" sz="1400"/>
          </a:p>
          <a:p>
            <a:pPr marL="342900" indent="-342900">
              <a:buFont typeface="+mj-lt"/>
              <a:buAutoNum type="arabicPeriod"/>
            </a:pPr>
            <a:r>
              <a:rPr lang="en-US" sz="1400" b="1">
                <a:solidFill>
                  <a:schemeClr val="accent3"/>
                </a:solidFill>
              </a:rPr>
              <a:t>OpenCV</a:t>
            </a:r>
            <a:r>
              <a:rPr lang="en-US" sz="1400">
                <a:solidFill>
                  <a:schemeClr val="accent3"/>
                </a:solidFill>
              </a:rPr>
              <a:t> powers real-time video intelligence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>
                <a:solidFill>
                  <a:schemeClr val="accent3"/>
                </a:solidFill>
              </a:rPr>
              <a:t>YOLOv8</a:t>
            </a:r>
            <a:r>
              <a:rPr lang="en-US" sz="1400">
                <a:solidFill>
                  <a:schemeClr val="accent3"/>
                </a:solidFill>
              </a:rPr>
              <a:t> delivers lightning-fast object recognition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>
                <a:solidFill>
                  <a:schemeClr val="accent3"/>
                </a:solidFill>
              </a:rPr>
              <a:t>Together</a:t>
            </a:r>
            <a:r>
              <a:rPr lang="en-US" sz="1400">
                <a:solidFill>
                  <a:schemeClr val="accent3"/>
                </a:solidFill>
              </a:rPr>
              <a:t>: They create a visual perception system that sees and understands the road with human-like awareness</a:t>
            </a:r>
          </a:p>
          <a:p>
            <a:endParaRPr lang="en-IN"/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9A289D75-0B9D-7ED7-28D4-D5F716BFA91A}"/>
              </a:ext>
            </a:extLst>
          </p:cNvPr>
          <p:cNvSpPr/>
          <p:nvPr/>
        </p:nvSpPr>
        <p:spPr>
          <a:xfrm>
            <a:off x="3171041" y="2949977"/>
            <a:ext cx="2600585" cy="3686962"/>
          </a:xfrm>
          <a:prstGeom prst="round2DiagRect">
            <a:avLst>
              <a:gd name="adj1" fmla="val 16667"/>
              <a:gd name="adj2" fmla="val 25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89259C-9216-2D0F-901C-A1A74ABD963E}"/>
              </a:ext>
            </a:extLst>
          </p:cNvPr>
          <p:cNvSpPr txBox="1"/>
          <p:nvPr/>
        </p:nvSpPr>
        <p:spPr>
          <a:xfrm>
            <a:off x="3299678" y="3028426"/>
            <a:ext cx="230417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 Fuzzy Logic</a:t>
            </a:r>
          </a:p>
          <a:p>
            <a:endParaRPr lang="en-US" sz="1600" b="1"/>
          </a:p>
          <a:p>
            <a:r>
              <a:rPr lang="en-US" sz="1400" b="1"/>
              <a:t>The Intelligence Behind the Voice</a:t>
            </a:r>
          </a:p>
          <a:p>
            <a:endParaRPr lang="en-US" sz="1400"/>
          </a:p>
          <a:p>
            <a:pPr marL="342900" indent="-342900">
              <a:buFont typeface="+mj-lt"/>
              <a:buAutoNum type="arabicPeriod"/>
            </a:pPr>
            <a:r>
              <a:rPr lang="en-US" sz="1400" b="1">
                <a:solidFill>
                  <a:schemeClr val="accent3"/>
                </a:solidFill>
              </a:rPr>
              <a:t>Human-like reasoning</a:t>
            </a:r>
            <a:r>
              <a:rPr lang="en-US" sz="1400">
                <a:solidFill>
                  <a:schemeClr val="accent3"/>
                </a:solidFill>
              </a:rPr>
              <a:t> for complex navigation decisions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>
                <a:solidFill>
                  <a:schemeClr val="accent3"/>
                </a:solidFill>
              </a:rPr>
              <a:t>30+ intelligent rules</a:t>
            </a:r>
            <a:r>
              <a:rPr lang="en-US" sz="1400">
                <a:solidFill>
                  <a:schemeClr val="accent3"/>
                </a:solidFill>
              </a:rPr>
              <a:t> that think like an expert driver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>
                <a:solidFill>
                  <a:schemeClr val="accent3"/>
                </a:solidFill>
              </a:rPr>
              <a:t>Multi-factor analysis</a:t>
            </a:r>
            <a:r>
              <a:rPr lang="en-US" sz="1400">
                <a:solidFill>
                  <a:schemeClr val="accent3"/>
                </a:solidFill>
              </a:rPr>
              <a:t>: Distance + Speed + Position + Confidence</a:t>
            </a:r>
          </a:p>
          <a:p>
            <a:endParaRPr lang="en-IN"/>
          </a:p>
        </p:txBody>
      </p:sp>
      <p:sp>
        <p:nvSpPr>
          <p:cNvPr id="27" name="Rectangle: Diagonal Corners Rounded 26">
            <a:extLst>
              <a:ext uri="{FF2B5EF4-FFF2-40B4-BE49-F238E27FC236}">
                <a16:creationId xmlns:a16="http://schemas.microsoft.com/office/drawing/2014/main" id="{246283C6-1B1E-F582-6984-42BC266DD6E4}"/>
              </a:ext>
            </a:extLst>
          </p:cNvPr>
          <p:cNvSpPr/>
          <p:nvPr/>
        </p:nvSpPr>
        <p:spPr>
          <a:xfrm>
            <a:off x="5911442" y="2949976"/>
            <a:ext cx="2846664" cy="3684015"/>
          </a:xfrm>
          <a:prstGeom prst="round2DiagRect">
            <a:avLst>
              <a:gd name="adj1" fmla="val 16667"/>
              <a:gd name="adj2" fmla="val 25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4BC902-618E-331B-111E-66139C462AEA}"/>
              </a:ext>
            </a:extLst>
          </p:cNvPr>
          <p:cNvSpPr txBox="1"/>
          <p:nvPr/>
        </p:nvSpPr>
        <p:spPr>
          <a:xfrm>
            <a:off x="6059645" y="3028426"/>
            <a:ext cx="2698461" cy="32624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/>
              <a:t> Voice Engine: pyttsx3</a:t>
            </a:r>
          </a:p>
          <a:p>
            <a:endParaRPr lang="en-US" sz="1600" b="1"/>
          </a:p>
          <a:p>
            <a:r>
              <a:rPr lang="en-IN" sz="1400" b="1"/>
              <a:t>Your Personal Navigation Co-pilot</a:t>
            </a:r>
          </a:p>
          <a:p>
            <a:endParaRPr lang="en-US" sz="1400"/>
          </a:p>
          <a:p>
            <a:pPr marL="342900" indent="-342900">
              <a:buFont typeface="+mj-lt"/>
              <a:buAutoNum type="arabicPeriod"/>
            </a:pPr>
            <a:r>
              <a:rPr lang="en-US" sz="1400" b="1">
                <a:solidFill>
                  <a:schemeClr val="accent3"/>
                </a:solidFill>
              </a:rPr>
              <a:t>Instant voice feedback</a:t>
            </a:r>
            <a:r>
              <a:rPr lang="en-US" sz="1400">
                <a:solidFill>
                  <a:schemeClr val="accent3"/>
                </a:solidFill>
              </a:rPr>
              <a:t> - no delays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>
                <a:solidFill>
                  <a:schemeClr val="accent3"/>
                </a:solidFill>
              </a:rPr>
              <a:t>Crystal-clear instructions</a:t>
            </a:r>
            <a:r>
              <a:rPr lang="en-US" sz="1400">
                <a:solidFill>
                  <a:schemeClr val="accent3"/>
                </a:solidFill>
              </a:rPr>
              <a:t> that keep you focused on the road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>
                <a:solidFill>
                  <a:schemeClr val="accent3"/>
                </a:solidFill>
              </a:rPr>
              <a:t>Always available</a:t>
            </a:r>
            <a:r>
              <a:rPr lang="en-US" sz="1400">
                <a:solidFill>
                  <a:schemeClr val="accent3"/>
                </a:solidFill>
              </a:rPr>
              <a:t> - works offline anywhere, anytime</a:t>
            </a:r>
          </a:p>
          <a:p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FA204B-4F48-693E-4D60-A24E5CE177E3}"/>
              </a:ext>
            </a:extLst>
          </p:cNvPr>
          <p:cNvSpPr txBox="1"/>
          <p:nvPr/>
        </p:nvSpPr>
        <p:spPr>
          <a:xfrm>
            <a:off x="9068499" y="3053045"/>
            <a:ext cx="259285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 Performance Core</a:t>
            </a:r>
          </a:p>
          <a:p>
            <a:endParaRPr lang="en-IN" b="1"/>
          </a:p>
          <a:p>
            <a:r>
              <a:rPr lang="en-IN" sz="1600" b="1"/>
              <a:t> NumPy + Threading</a:t>
            </a:r>
          </a:p>
          <a:p>
            <a:endParaRPr lang="en-US" sz="1400"/>
          </a:p>
          <a:p>
            <a:r>
              <a:rPr lang="en-US" sz="1400" b="1">
                <a:solidFill>
                  <a:schemeClr val="accent3"/>
                </a:solidFill>
              </a:rPr>
              <a:t>NumPy</a:t>
            </a:r>
            <a:r>
              <a:rPr lang="en-US" sz="1400">
                <a:solidFill>
                  <a:schemeClr val="accent3"/>
                </a:solidFill>
              </a:rPr>
              <a:t>: Mathematical genius for precise distance calculations</a:t>
            </a:r>
          </a:p>
          <a:p>
            <a:r>
              <a:rPr lang="en-US" sz="1400" b="1">
                <a:solidFill>
                  <a:schemeClr val="accent3"/>
                </a:solidFill>
              </a:rPr>
              <a:t>Threading</a:t>
            </a:r>
            <a:r>
              <a:rPr lang="en-US" sz="1400">
                <a:solidFill>
                  <a:schemeClr val="accent3"/>
                </a:solidFill>
              </a:rPr>
              <a:t>: Seamless multitasking - sees and speaks simultaneously</a:t>
            </a:r>
          </a:p>
          <a:p>
            <a:r>
              <a:rPr lang="en-US" sz="1400" b="1">
                <a:solidFill>
                  <a:schemeClr val="accent3"/>
                </a:solidFill>
              </a:rPr>
              <a:t>Result</a:t>
            </a:r>
            <a:r>
              <a:rPr lang="en-US" sz="1400">
                <a:solidFill>
                  <a:schemeClr val="accent3"/>
                </a:solidFill>
              </a:rPr>
              <a:t>: Butter-smooth performance that never misses a beat</a:t>
            </a:r>
          </a:p>
          <a:p>
            <a:endParaRPr lang="en-IN"/>
          </a:p>
        </p:txBody>
      </p:sp>
      <p:sp>
        <p:nvSpPr>
          <p:cNvPr id="30" name="Rectangle: Diagonal Corners Rounded 29">
            <a:extLst>
              <a:ext uri="{FF2B5EF4-FFF2-40B4-BE49-F238E27FC236}">
                <a16:creationId xmlns:a16="http://schemas.microsoft.com/office/drawing/2014/main" id="{C01818AD-56D2-01D8-B54E-54CB9FF31EC5}"/>
              </a:ext>
            </a:extLst>
          </p:cNvPr>
          <p:cNvSpPr/>
          <p:nvPr/>
        </p:nvSpPr>
        <p:spPr>
          <a:xfrm>
            <a:off x="8906964" y="2925355"/>
            <a:ext cx="2846664" cy="3684015"/>
          </a:xfrm>
          <a:prstGeom prst="round2DiagRect">
            <a:avLst>
              <a:gd name="adj1" fmla="val 16667"/>
              <a:gd name="adj2" fmla="val 25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910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EA2D-31F8-7C63-C5D4-F455E5BED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408" y="1753299"/>
            <a:ext cx="3607266" cy="2295525"/>
          </a:xfrm>
        </p:spPr>
        <p:txBody>
          <a:bodyPr/>
          <a:lstStyle/>
          <a:p>
            <a:r>
              <a:rPr lang="en-IN"/>
              <a:t>Why This Specific Stack?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0A8F3-114F-A694-3901-CC585AC1F8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83354" y="1325461"/>
            <a:ext cx="4820058" cy="4672667"/>
          </a:xfrm>
        </p:spPr>
        <p:txBody>
          <a:bodyPr>
            <a:normAutofit fontScale="77500" lnSpcReduction="20000"/>
          </a:bodyPr>
          <a:lstStyle/>
          <a:p>
            <a:r>
              <a:rPr lang="en-IN" b="1"/>
              <a:t>Performance Considerations:</a:t>
            </a:r>
          </a:p>
          <a:p>
            <a:r>
              <a:rPr lang="en-IN" b="1"/>
              <a:t>YOLOv8</a:t>
            </a:r>
            <a:r>
              <a:rPr lang="en-IN"/>
              <a:t> over heavier models: Need real-time speed</a:t>
            </a:r>
          </a:p>
          <a:p>
            <a:r>
              <a:rPr lang="en-IN" b="1"/>
              <a:t>Fuzzy Logic</a:t>
            </a:r>
            <a:r>
              <a:rPr lang="en-IN"/>
              <a:t> over neural networks: More interpretable, less training data needed</a:t>
            </a:r>
          </a:p>
          <a:p>
            <a:r>
              <a:rPr lang="en-IN" b="1"/>
              <a:t>pyttsx3</a:t>
            </a:r>
            <a:r>
              <a:rPr lang="en-IN"/>
              <a:t> over cloud TTS: Privacy, offline operation, zero latency</a:t>
            </a:r>
          </a:p>
          <a:p>
            <a:r>
              <a:rPr lang="en-IN" b="1"/>
              <a:t>Threading</a:t>
            </a:r>
            <a:r>
              <a:rPr lang="en-IN"/>
              <a:t>: Essential for uninterrupted real-time experience</a:t>
            </a:r>
          </a:p>
          <a:p>
            <a:endParaRPr lang="en-IN"/>
          </a:p>
          <a:p>
            <a:r>
              <a:rPr lang="en-US" b="1"/>
              <a:t>Practical Advantages:</a:t>
            </a:r>
          </a:p>
          <a:p>
            <a:r>
              <a:rPr lang="en-US" b="1"/>
              <a:t>All Python</a:t>
            </a:r>
            <a:r>
              <a:rPr lang="en-US"/>
              <a:t>: Easy integration and maintenance</a:t>
            </a:r>
          </a:p>
          <a:p>
            <a:r>
              <a:rPr lang="en-US" b="1"/>
              <a:t>Minimal Dependencies</a:t>
            </a:r>
            <a:r>
              <a:rPr lang="en-US"/>
              <a:t>: Easy installation and deployment</a:t>
            </a:r>
          </a:p>
          <a:p>
            <a:r>
              <a:rPr lang="en-US" b="1"/>
              <a:t>Hardware Flexible</a:t>
            </a:r>
            <a:r>
              <a:rPr lang="en-US"/>
              <a:t>: Runs on laptops without special GPUs</a:t>
            </a:r>
          </a:p>
          <a:p>
            <a:r>
              <a:rPr lang="en-US" b="1"/>
              <a:t>Extensible</a:t>
            </a:r>
            <a:r>
              <a:rPr lang="en-US"/>
              <a:t>: Easy to add new features and rules</a:t>
            </a:r>
          </a:p>
          <a:p>
            <a:br>
              <a:rPr lang="en-US"/>
            </a:br>
            <a:endParaRPr lang="en-IN"/>
          </a:p>
          <a:p>
            <a:endParaRPr lang="en-IN" b="1"/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83289295-DD51-B0A7-E7C1-80C4C815F3EC}"/>
              </a:ext>
            </a:extLst>
          </p:cNvPr>
          <p:cNvSpPr/>
          <p:nvPr/>
        </p:nvSpPr>
        <p:spPr>
          <a:xfrm>
            <a:off x="10330296" y="-3047"/>
            <a:ext cx="1861915" cy="707226"/>
          </a:xfrm>
          <a:prstGeom prst="teardrop">
            <a:avLst/>
          </a:prstGeom>
          <a:solidFill>
            <a:schemeClr val="accent1">
              <a:lumMod val="75000"/>
            </a:schemeClr>
          </a:solidFill>
          <a:effectLst>
            <a:outerShdw blurRad="190500" dist="190500" dir="348000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2B3349-4025-A14D-F9A6-7CCD39F3CAAE}"/>
              </a:ext>
            </a:extLst>
          </p:cNvPr>
          <p:cNvSpPr txBox="1"/>
          <p:nvPr/>
        </p:nvSpPr>
        <p:spPr>
          <a:xfrm>
            <a:off x="10819371" y="164458"/>
            <a:ext cx="11142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Slide 11</a:t>
            </a:r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88069EE5-1628-B66E-417E-44825913215D}"/>
              </a:ext>
            </a:extLst>
          </p:cNvPr>
          <p:cNvSpPr/>
          <p:nvPr/>
        </p:nvSpPr>
        <p:spPr>
          <a:xfrm>
            <a:off x="6096000" y="871684"/>
            <a:ext cx="5931016" cy="2623657"/>
          </a:xfrm>
          <a:prstGeom prst="foldedCorne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CBB6DDFF-AE58-CE2C-9F3F-4944D013E395}"/>
              </a:ext>
            </a:extLst>
          </p:cNvPr>
          <p:cNvSpPr/>
          <p:nvPr/>
        </p:nvSpPr>
        <p:spPr>
          <a:xfrm>
            <a:off x="6096000" y="3362659"/>
            <a:ext cx="5931016" cy="2623657"/>
          </a:xfrm>
          <a:prstGeom prst="foldedCorne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825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640B5A-EA26-A204-4295-E3B172302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780176"/>
            <a:ext cx="10571998" cy="637462"/>
          </a:xfrm>
        </p:spPr>
        <p:txBody>
          <a:bodyPr/>
          <a:lstStyle/>
          <a:p>
            <a:br>
              <a:rPr lang="en-IN"/>
            </a:br>
            <a:r>
              <a:rPr lang="en-IN"/>
              <a:t>Complete System Flow</a:t>
            </a:r>
            <a:br>
              <a:rPr lang="en-IN"/>
            </a:br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3AACD5-17C7-8553-706F-E790383C7279}"/>
              </a:ext>
            </a:extLst>
          </p:cNvPr>
          <p:cNvSpPr/>
          <p:nvPr/>
        </p:nvSpPr>
        <p:spPr>
          <a:xfrm>
            <a:off x="810000" y="2222287"/>
            <a:ext cx="4265339" cy="411140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4F9DE0-E0D6-AA4A-6C8B-C44D93FBFA6C}"/>
              </a:ext>
            </a:extLst>
          </p:cNvPr>
          <p:cNvSpPr txBox="1"/>
          <p:nvPr/>
        </p:nvSpPr>
        <p:spPr>
          <a:xfrm>
            <a:off x="1065402" y="2508308"/>
            <a:ext cx="37079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1. Camera Input</a:t>
            </a:r>
          </a:p>
          <a:p>
            <a:r>
              <a:rPr lang="en-US" b="1">
                <a:solidFill>
                  <a:schemeClr val="bg1"/>
                </a:solidFill>
              </a:rPr>
              <a:t>Real-time video feed processing</a:t>
            </a:r>
          </a:p>
          <a:p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Captures 30 frames per second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1280x720 resolution for optimal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Continuous frame-by-frame analysis</a:t>
            </a:r>
          </a:p>
          <a:p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AEA6942-5851-68C6-F0DD-18E7BC28784C}"/>
              </a:ext>
            </a:extLst>
          </p:cNvPr>
          <p:cNvSpPr/>
          <p:nvPr/>
        </p:nvSpPr>
        <p:spPr>
          <a:xfrm>
            <a:off x="5075339" y="3429000"/>
            <a:ext cx="1965823" cy="135272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7C8493B-F95D-35A1-5BEA-E91702391DFD}"/>
              </a:ext>
            </a:extLst>
          </p:cNvPr>
          <p:cNvSpPr/>
          <p:nvPr/>
        </p:nvSpPr>
        <p:spPr>
          <a:xfrm>
            <a:off x="7041162" y="2315423"/>
            <a:ext cx="4265339" cy="411140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23C176-F682-8658-A604-195E0B6D8228}"/>
              </a:ext>
            </a:extLst>
          </p:cNvPr>
          <p:cNvSpPr txBox="1"/>
          <p:nvPr/>
        </p:nvSpPr>
        <p:spPr>
          <a:xfrm>
            <a:off x="7424257" y="2667699"/>
            <a:ext cx="3422708" cy="315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2. Object Detection (YOLOv8)</a:t>
            </a:r>
          </a:p>
          <a:p>
            <a:r>
              <a:rPr lang="en-US" b="1">
                <a:solidFill>
                  <a:schemeClr val="bg1"/>
                </a:solidFill>
              </a:rPr>
              <a:t>Identifies and classifies road objects</a:t>
            </a:r>
          </a:p>
          <a:p>
            <a:endParaRPr lang="en-US" u="sng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Detects</a:t>
            </a:r>
            <a:r>
              <a:rPr lang="en-US">
                <a:solidFill>
                  <a:schemeClr val="bg1"/>
                </a:solidFill>
              </a:rPr>
              <a:t>: Cars, pedestrians, traffic signals, bicycles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Outputs</a:t>
            </a:r>
            <a:r>
              <a:rPr lang="en-US">
                <a:solidFill>
                  <a:schemeClr val="bg1"/>
                </a:solidFill>
              </a:rPr>
              <a:t>: Bounding boxes + confidence scores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</a:rPr>
              <a:t>Example</a:t>
            </a:r>
            <a:r>
              <a:rPr lang="en-US">
                <a:solidFill>
                  <a:schemeClr val="bg1"/>
                </a:solidFill>
              </a:rPr>
              <a:t>: "Car detected with 85% confidence"</a:t>
            </a:r>
          </a:p>
        </p:txBody>
      </p:sp>
      <p:sp>
        <p:nvSpPr>
          <p:cNvPr id="14" name="Teardrop 13">
            <a:extLst>
              <a:ext uri="{FF2B5EF4-FFF2-40B4-BE49-F238E27FC236}">
                <a16:creationId xmlns:a16="http://schemas.microsoft.com/office/drawing/2014/main" id="{5963C123-8253-29F4-2FA8-0456F3139B12}"/>
              </a:ext>
            </a:extLst>
          </p:cNvPr>
          <p:cNvSpPr/>
          <p:nvPr/>
        </p:nvSpPr>
        <p:spPr>
          <a:xfrm>
            <a:off x="10330296" y="-3047"/>
            <a:ext cx="1861915" cy="707226"/>
          </a:xfrm>
          <a:prstGeom prst="teardrop">
            <a:avLst/>
          </a:prstGeom>
          <a:solidFill>
            <a:schemeClr val="accent1">
              <a:lumMod val="75000"/>
            </a:schemeClr>
          </a:solidFill>
          <a:effectLst>
            <a:outerShdw blurRad="190500" dist="190500" dir="348000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2AAF0D-69F4-DF07-F7AE-7BB23AA62332}"/>
              </a:ext>
            </a:extLst>
          </p:cNvPr>
          <p:cNvSpPr txBox="1"/>
          <p:nvPr/>
        </p:nvSpPr>
        <p:spPr>
          <a:xfrm>
            <a:off x="10710050" y="109057"/>
            <a:ext cx="1375795" cy="369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Slide 12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381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4C746C-AC5C-404F-C804-EE1BCFE17074}"/>
              </a:ext>
            </a:extLst>
          </p:cNvPr>
          <p:cNvSpPr/>
          <p:nvPr/>
        </p:nvSpPr>
        <p:spPr>
          <a:xfrm>
            <a:off x="517466" y="142611"/>
            <a:ext cx="4580389" cy="313748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endParaRPr lang="en-US" sz="1400" b="1"/>
          </a:p>
          <a:p>
            <a:r>
              <a:rPr lang="en-US" sz="1400" b="1">
                <a:solidFill>
                  <a:schemeClr val="bg1"/>
                </a:solidFill>
              </a:rPr>
              <a:t>Real heights</a:t>
            </a:r>
            <a:r>
              <a:rPr lang="en-US" sz="1400">
                <a:solidFill>
                  <a:schemeClr val="bg1"/>
                </a:solidFill>
              </a:rPr>
              <a:t>: Person=1.7m, Car=1.5m, Truck=3.5m</a:t>
            </a:r>
          </a:p>
          <a:p>
            <a:r>
              <a:rPr lang="en-US" sz="1400" b="1">
                <a:solidFill>
                  <a:schemeClr val="bg1"/>
                </a:solidFill>
              </a:rPr>
              <a:t>Adjusts</a:t>
            </a:r>
            <a:r>
              <a:rPr lang="en-US" sz="1400">
                <a:solidFill>
                  <a:schemeClr val="bg1"/>
                </a:solidFill>
              </a:rPr>
              <a:t> for object position in frame</a:t>
            </a:r>
          </a:p>
          <a:p>
            <a:r>
              <a:rPr lang="en-US" sz="1400" b="1">
                <a:solidFill>
                  <a:schemeClr val="bg1"/>
                </a:solidFill>
              </a:rPr>
              <a:t>Example</a:t>
            </a:r>
            <a:r>
              <a:rPr lang="en-US" sz="1400">
                <a:solidFill>
                  <a:schemeClr val="bg1"/>
                </a:solidFill>
              </a:rPr>
              <a:t>: Car at 100 pixels height = 10.5 meters away</a:t>
            </a:r>
          </a:p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CFC829-09B8-F758-9332-E061F8A9359F}"/>
              </a:ext>
            </a:extLst>
          </p:cNvPr>
          <p:cNvSpPr/>
          <p:nvPr/>
        </p:nvSpPr>
        <p:spPr>
          <a:xfrm>
            <a:off x="6796481" y="2084663"/>
            <a:ext cx="4580389" cy="279353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>
                <a:solidFill>
                  <a:schemeClr val="bg1"/>
                </a:solidFill>
              </a:rPr>
              <a:t>4.  Spatial Zone Analysis</a:t>
            </a:r>
          </a:p>
          <a:p>
            <a:r>
              <a:rPr lang="en-IN" sz="1400" b="1">
                <a:solidFill>
                  <a:schemeClr val="bg1"/>
                </a:solidFill>
              </a:rPr>
              <a:t>Divides view into 5 navigation zones</a:t>
            </a:r>
          </a:p>
          <a:p>
            <a:endParaRPr lang="en-IN" sz="1400" b="1">
              <a:solidFill>
                <a:schemeClr val="bg1"/>
              </a:solidFill>
            </a:endParaRPr>
          </a:p>
          <a:p>
            <a:endParaRPr lang="en-IN" sz="1400" b="1">
              <a:solidFill>
                <a:schemeClr val="bg1"/>
              </a:solidFill>
            </a:endParaRPr>
          </a:p>
          <a:p>
            <a:endParaRPr lang="en-IN" sz="1400" b="1">
              <a:solidFill>
                <a:schemeClr val="bg1"/>
              </a:solidFill>
            </a:endParaRPr>
          </a:p>
          <a:p>
            <a:r>
              <a:rPr lang="en-US" sz="1400" b="1">
                <a:solidFill>
                  <a:schemeClr val="bg1"/>
                </a:solidFill>
              </a:rPr>
              <a:t>Center zone</a:t>
            </a:r>
            <a:r>
              <a:rPr lang="en-US" sz="1400">
                <a:solidFill>
                  <a:schemeClr val="bg1"/>
                </a:solidFill>
              </a:rPr>
              <a:t>: Critical path (emergency stops)</a:t>
            </a:r>
          </a:p>
          <a:p>
            <a:r>
              <a:rPr lang="en-US" sz="1400" b="1">
                <a:solidFill>
                  <a:schemeClr val="bg1"/>
                </a:solidFill>
              </a:rPr>
              <a:t>Side zones</a:t>
            </a:r>
            <a:r>
              <a:rPr lang="en-US" sz="1400">
                <a:solidFill>
                  <a:schemeClr val="bg1"/>
                </a:solidFill>
              </a:rPr>
              <a:t>: Turn opportunities</a:t>
            </a:r>
          </a:p>
          <a:p>
            <a:r>
              <a:rPr lang="en-US" sz="1400" b="1">
                <a:solidFill>
                  <a:schemeClr val="bg1"/>
                </a:solidFill>
              </a:rPr>
              <a:t>Angular positioning</a:t>
            </a:r>
            <a:r>
              <a:rPr lang="en-US" sz="1400">
                <a:solidFill>
                  <a:schemeClr val="bg1"/>
                </a:solidFill>
              </a:rPr>
              <a:t>: -45° to +45° coverage</a:t>
            </a:r>
          </a:p>
          <a:p>
            <a:endParaRPr lang="en-IN" sz="1400"/>
          </a:p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51E0AC-9818-6E25-3E68-6141CEAC75BD}"/>
              </a:ext>
            </a:extLst>
          </p:cNvPr>
          <p:cNvSpPr/>
          <p:nvPr/>
        </p:nvSpPr>
        <p:spPr>
          <a:xfrm>
            <a:off x="352337" y="3749879"/>
            <a:ext cx="4745517" cy="310812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D1FE47-A16F-9C6A-E4F1-E703919F2ED9}"/>
              </a:ext>
            </a:extLst>
          </p:cNvPr>
          <p:cNvCxnSpPr/>
          <p:nvPr/>
        </p:nvCxnSpPr>
        <p:spPr>
          <a:xfrm>
            <a:off x="5150840" y="1539379"/>
            <a:ext cx="1645641" cy="1090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4C03BD-7C21-93B4-AF27-11793B9479A5}"/>
              </a:ext>
            </a:extLst>
          </p:cNvPr>
          <p:cNvCxnSpPr/>
          <p:nvPr/>
        </p:nvCxnSpPr>
        <p:spPr>
          <a:xfrm flipH="1">
            <a:off x="5150840" y="3921854"/>
            <a:ext cx="1645641" cy="1187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677AEA0-FAAB-569B-49E4-C39FC1278F0D}"/>
              </a:ext>
            </a:extLst>
          </p:cNvPr>
          <p:cNvSpPr txBox="1"/>
          <p:nvPr/>
        </p:nvSpPr>
        <p:spPr>
          <a:xfrm>
            <a:off x="729841" y="369116"/>
            <a:ext cx="4051883" cy="12926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3"/>
            </a:pPr>
            <a:r>
              <a:rPr lang="en-IN" b="1">
                <a:solidFill>
                  <a:schemeClr val="bg1"/>
                </a:solidFill>
              </a:rPr>
              <a:t>Smart Distance Calculation</a:t>
            </a:r>
          </a:p>
          <a:p>
            <a:pPr marL="342900" indent="-342900">
              <a:buAutoNum type="arabicPeriod" startAt="3"/>
            </a:pPr>
            <a:endParaRPr lang="en-IN" b="1"/>
          </a:p>
          <a:p>
            <a:r>
              <a:rPr lang="en-US" sz="1400">
                <a:solidFill>
                  <a:schemeClr val="bg1"/>
                </a:solidFill>
              </a:rPr>
              <a:t>Calculates real-world distances using perspective geometry</a:t>
            </a:r>
          </a:p>
          <a:p>
            <a:endParaRPr lang="en-IN" sz="14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577F57-AEE0-8276-436D-006E348ED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39" y="1432378"/>
            <a:ext cx="4106411" cy="5502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0F0C7C4-02CA-98D5-549D-5826C9615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424" y="2919113"/>
            <a:ext cx="4274046" cy="5098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3301018-EBF9-571E-FDBF-2FE7C21FBACB}"/>
              </a:ext>
            </a:extLst>
          </p:cNvPr>
          <p:cNvSpPr txBox="1"/>
          <p:nvPr/>
        </p:nvSpPr>
        <p:spPr>
          <a:xfrm>
            <a:off x="570451" y="3921854"/>
            <a:ext cx="4127384" cy="344709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5"/>
            </a:pPr>
            <a:r>
              <a:rPr lang="en-IN" sz="1600" b="1">
                <a:solidFill>
                  <a:schemeClr val="bg1"/>
                </a:solidFill>
              </a:rPr>
              <a:t>Fuzzy Logic Decision Engine</a:t>
            </a:r>
          </a:p>
          <a:p>
            <a:pPr marL="342900" indent="-342900">
              <a:buAutoNum type="arabicPeriod" startAt="5"/>
            </a:pPr>
            <a:endParaRPr lang="en-IN" sz="1600" b="1">
              <a:solidFill>
                <a:schemeClr val="bg1"/>
              </a:solidFill>
            </a:endParaRPr>
          </a:p>
          <a:p>
            <a:r>
              <a:rPr lang="en-US" sz="1400" b="1">
                <a:solidFill>
                  <a:schemeClr val="bg1"/>
                </a:solidFill>
              </a:rPr>
              <a:t>30+ intelligent rules for navigation decisions</a:t>
            </a:r>
            <a:endParaRPr lang="en-IN" sz="1400" b="1">
              <a:solidFill>
                <a:schemeClr val="bg1"/>
              </a:solidFill>
            </a:endParaRPr>
          </a:p>
          <a:p>
            <a:r>
              <a:rPr lang="en-US" sz="1400" b="1">
                <a:solidFill>
                  <a:schemeClr val="bg1"/>
                </a:solidFill>
              </a:rPr>
              <a:t>Key Rule Examples</a:t>
            </a:r>
            <a:r>
              <a:rPr lang="en-US" sz="1400">
                <a:solidFill>
                  <a:schemeClr val="bg1"/>
                </a:solidFill>
              </a:rPr>
              <a:t>:</a:t>
            </a:r>
          </a:p>
          <a:p>
            <a:endParaRPr lang="en-US" sz="1400">
              <a:solidFill>
                <a:schemeClr val="bg1"/>
              </a:solidFill>
            </a:endParaRPr>
          </a:p>
          <a:p>
            <a:endParaRPr lang="en-US" sz="1400">
              <a:solidFill>
                <a:schemeClr val="bg1"/>
              </a:solidFill>
            </a:endParaRPr>
          </a:p>
          <a:p>
            <a:endParaRPr lang="en-US" sz="1400">
              <a:solidFill>
                <a:schemeClr val="bg1"/>
              </a:solidFill>
            </a:endParaRPr>
          </a:p>
          <a:p>
            <a:endParaRPr lang="en-US" sz="1400">
              <a:solidFill>
                <a:schemeClr val="bg1"/>
              </a:solidFill>
            </a:endParaRPr>
          </a:p>
          <a:p>
            <a:r>
              <a:rPr lang="en-US" sz="1400" b="1">
                <a:solidFill>
                  <a:schemeClr val="bg1"/>
                </a:solidFill>
              </a:rPr>
              <a:t>Emergency Stop</a:t>
            </a:r>
            <a:r>
              <a:rPr lang="en-US" sz="1400">
                <a:solidFill>
                  <a:schemeClr val="bg1"/>
                </a:solidFill>
              </a:rPr>
              <a:t>: Object in center zone within stop distance</a:t>
            </a:r>
          </a:p>
          <a:p>
            <a:r>
              <a:rPr lang="en-US" sz="1400" b="1">
                <a:solidFill>
                  <a:schemeClr val="bg1"/>
                </a:solidFill>
              </a:rPr>
              <a:t>Yield</a:t>
            </a:r>
            <a:r>
              <a:rPr lang="en-US" sz="1400">
                <a:solidFill>
                  <a:schemeClr val="bg1"/>
                </a:solidFill>
              </a:rPr>
              <a:t>: Pedestrian crossing at close range</a:t>
            </a:r>
          </a:p>
          <a:p>
            <a:r>
              <a:rPr lang="en-US" sz="1400" b="1">
                <a:solidFill>
                  <a:schemeClr val="bg1"/>
                </a:solidFill>
              </a:rPr>
              <a:t>Caution</a:t>
            </a:r>
            <a:r>
              <a:rPr lang="en-US" sz="1400">
                <a:solidFill>
                  <a:schemeClr val="bg1"/>
                </a:solidFill>
              </a:rPr>
              <a:t>: Vehicle detected at medium</a:t>
            </a:r>
            <a:r>
              <a:rPr lang="en-US" sz="1400"/>
              <a:t> distance</a:t>
            </a:r>
          </a:p>
          <a:p>
            <a:br>
              <a:rPr lang="en-US" sz="1600"/>
            </a:br>
            <a:endParaRPr lang="en-IN" sz="16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A8E8178-9F12-2271-A568-CEAC5EF90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59" y="4986840"/>
            <a:ext cx="4029367" cy="673951"/>
          </a:xfrm>
          <a:prstGeom prst="rect">
            <a:avLst/>
          </a:prstGeom>
        </p:spPr>
      </p:pic>
      <p:sp>
        <p:nvSpPr>
          <p:cNvPr id="19" name="Teardrop 18">
            <a:extLst>
              <a:ext uri="{FF2B5EF4-FFF2-40B4-BE49-F238E27FC236}">
                <a16:creationId xmlns:a16="http://schemas.microsoft.com/office/drawing/2014/main" id="{39BDA9F0-6996-8EDB-C5B9-26BC9ECE1A78}"/>
              </a:ext>
            </a:extLst>
          </p:cNvPr>
          <p:cNvSpPr/>
          <p:nvPr/>
        </p:nvSpPr>
        <p:spPr>
          <a:xfrm>
            <a:off x="10330296" y="-3047"/>
            <a:ext cx="1861915" cy="707226"/>
          </a:xfrm>
          <a:prstGeom prst="teardrop">
            <a:avLst/>
          </a:prstGeom>
          <a:solidFill>
            <a:schemeClr val="accent1">
              <a:lumMod val="75000"/>
            </a:schemeClr>
          </a:solidFill>
          <a:effectLst>
            <a:outerShdw blurRad="190500" dist="190500" dir="348000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8F7CE2-C44C-315D-72A0-326B4D2C4E81}"/>
              </a:ext>
            </a:extLst>
          </p:cNvPr>
          <p:cNvSpPr txBox="1"/>
          <p:nvPr/>
        </p:nvSpPr>
        <p:spPr>
          <a:xfrm>
            <a:off x="10612073" y="226503"/>
            <a:ext cx="1367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Slide 13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779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3F348-27D1-9A4E-BA7E-B9AFC5AFB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14BD04-D2B0-DFC5-F96D-4A4130A4A6A7}"/>
              </a:ext>
            </a:extLst>
          </p:cNvPr>
          <p:cNvSpPr/>
          <p:nvPr/>
        </p:nvSpPr>
        <p:spPr>
          <a:xfrm>
            <a:off x="517465" y="251878"/>
            <a:ext cx="4580389" cy="313748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bg1"/>
                </a:solidFill>
              </a:rPr>
              <a:t>6. Path Clearance Analysis</a:t>
            </a:r>
          </a:p>
          <a:p>
            <a:endParaRPr lang="en-US" b="1">
              <a:solidFill>
                <a:schemeClr val="bg1"/>
              </a:solidFill>
            </a:endParaRPr>
          </a:p>
          <a:p>
            <a:r>
              <a:rPr lang="en-US" sz="1600" b="1">
                <a:solidFill>
                  <a:schemeClr val="bg1"/>
                </a:solidFill>
              </a:rPr>
              <a:t>Object-specific safety thresholds</a:t>
            </a:r>
            <a:endParaRPr lang="en-US" sz="1600">
              <a:solidFill>
                <a:schemeClr val="bg1"/>
              </a:solidFill>
            </a:endParaRPr>
          </a:p>
          <a:p>
            <a:r>
              <a:rPr lang="en-US" sz="1400" b="1">
                <a:solidFill>
                  <a:schemeClr val="bg1"/>
                </a:solidFill>
              </a:rPr>
              <a:t>Person</a:t>
            </a:r>
            <a:r>
              <a:rPr lang="en-US" sz="1400">
                <a:solidFill>
                  <a:schemeClr val="bg1"/>
                </a:solidFill>
              </a:rPr>
              <a:t>: Stop=5m, Caution=35m</a:t>
            </a:r>
          </a:p>
          <a:p>
            <a:r>
              <a:rPr lang="en-US" sz="1400" b="1">
                <a:solidFill>
                  <a:schemeClr val="bg1"/>
                </a:solidFill>
              </a:rPr>
              <a:t>Car</a:t>
            </a:r>
            <a:r>
              <a:rPr lang="en-US" sz="1400">
                <a:solidFill>
                  <a:schemeClr val="bg1"/>
                </a:solidFill>
              </a:rPr>
              <a:t>: Stop=8m, Caution=25m</a:t>
            </a:r>
          </a:p>
          <a:p>
            <a:r>
              <a:rPr lang="en-US" sz="1400" b="1">
                <a:solidFill>
                  <a:schemeClr val="bg1"/>
                </a:solidFill>
              </a:rPr>
              <a:t>Traffic Light</a:t>
            </a:r>
            <a:r>
              <a:rPr lang="en-US" sz="1400">
                <a:solidFill>
                  <a:schemeClr val="bg1"/>
                </a:solidFill>
              </a:rPr>
              <a:t>: Stop=15m, Caution=50m</a:t>
            </a:r>
          </a:p>
          <a:p>
            <a:endParaRPr lang="en-US" sz="1400">
              <a:solidFill>
                <a:schemeClr val="bg1"/>
              </a:solidFill>
            </a:endParaRPr>
          </a:p>
          <a:p>
            <a:r>
              <a:rPr lang="en-US" sz="1400" b="1">
                <a:solidFill>
                  <a:schemeClr val="bg1"/>
                </a:solidFill>
              </a:rPr>
              <a:t>Determines</a:t>
            </a:r>
            <a:r>
              <a:rPr lang="en-US" sz="1400">
                <a:solidFill>
                  <a:schemeClr val="bg1"/>
                </a:solidFill>
              </a:rPr>
              <a:t>:</a:t>
            </a:r>
          </a:p>
          <a:p>
            <a:r>
              <a:rPr lang="en-US" sz="1400">
                <a:solidFill>
                  <a:schemeClr val="bg1"/>
                </a:solidFill>
              </a:rPr>
              <a:t>✅ Clear paths for straight movement</a:t>
            </a:r>
          </a:p>
          <a:p>
            <a:r>
              <a:rPr lang="en-US" sz="1400">
                <a:solidFill>
                  <a:schemeClr val="bg1"/>
                </a:solidFill>
              </a:rPr>
              <a:t>↔️ Available turn opportunities</a:t>
            </a:r>
          </a:p>
          <a:p>
            <a:r>
              <a:rPr lang="en-US" sz="1400">
                <a:solidFill>
                  <a:schemeClr val="bg1"/>
                </a:solidFill>
              </a:rPr>
              <a:t>🚫 Blocked routes</a:t>
            </a:r>
          </a:p>
          <a:p>
            <a:endParaRPr lang="en-US" sz="1600"/>
          </a:p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2DF979-CF87-5F7D-CA8A-FEE4B60F9FBC}"/>
              </a:ext>
            </a:extLst>
          </p:cNvPr>
          <p:cNvSpPr/>
          <p:nvPr/>
        </p:nvSpPr>
        <p:spPr>
          <a:xfrm>
            <a:off x="6796481" y="2084663"/>
            <a:ext cx="4580389" cy="279353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bg1"/>
                </a:solidFill>
              </a:rPr>
              <a:t>7.Voice Instruction Generation</a:t>
            </a:r>
          </a:p>
          <a:p>
            <a:endParaRPr lang="en-US" sz="1600" b="1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bg1"/>
                </a:solidFill>
              </a:rPr>
              <a:t>Converts decisions to spoken guidance</a:t>
            </a:r>
            <a:endParaRPr lang="en-US" sz="1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bg1"/>
                </a:solidFill>
              </a:rPr>
              <a:t>Immediate alerts</a:t>
            </a:r>
            <a:r>
              <a:rPr lang="en-US" sz="1400">
                <a:solidFill>
                  <a:schemeClr val="bg1"/>
                </a:solidFill>
              </a:rPr>
              <a:t> for emergency situations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bg1"/>
                </a:solidFill>
              </a:rPr>
              <a:t>Continuous updates</a:t>
            </a:r>
            <a:r>
              <a:rPr lang="en-US" sz="1400">
                <a:solidFill>
                  <a:schemeClr val="bg1"/>
                </a:solidFill>
              </a:rPr>
              <a:t> every 3 seconds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bg1"/>
                </a:solidFill>
              </a:rPr>
              <a:t>Clear, actionable commands</a:t>
            </a:r>
            <a:endParaRPr lang="en-US" sz="1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bg1"/>
                </a:solidFill>
              </a:rPr>
              <a:t>Threaded execution</a:t>
            </a:r>
            <a:r>
              <a:rPr lang="en-US" sz="1400">
                <a:solidFill>
                  <a:schemeClr val="bg1"/>
                </a:solidFill>
              </a:rPr>
              <a:t> - doesn't block camera processing</a:t>
            </a:r>
          </a:p>
          <a:p>
            <a:endParaRPr lang="en-IN" sz="1400"/>
          </a:p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E343215-6F93-6EFD-F728-6E3AC42FF11F}"/>
              </a:ext>
            </a:extLst>
          </p:cNvPr>
          <p:cNvSpPr/>
          <p:nvPr/>
        </p:nvSpPr>
        <p:spPr>
          <a:xfrm>
            <a:off x="352337" y="3749879"/>
            <a:ext cx="4745517" cy="310812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ED61E24-570D-7C4E-764B-046D1A087F31}"/>
              </a:ext>
            </a:extLst>
          </p:cNvPr>
          <p:cNvCxnSpPr/>
          <p:nvPr/>
        </p:nvCxnSpPr>
        <p:spPr>
          <a:xfrm>
            <a:off x="5150840" y="1539379"/>
            <a:ext cx="1645641" cy="1090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8E371F-4310-12C4-1E31-B817A7C79F6E}"/>
              </a:ext>
            </a:extLst>
          </p:cNvPr>
          <p:cNvCxnSpPr/>
          <p:nvPr/>
        </p:nvCxnSpPr>
        <p:spPr>
          <a:xfrm flipH="1">
            <a:off x="5150840" y="3921854"/>
            <a:ext cx="1645641" cy="1187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2A020BE-6FCF-D32B-F32C-77A30C7BF4F0}"/>
              </a:ext>
            </a:extLst>
          </p:cNvPr>
          <p:cNvSpPr txBox="1"/>
          <p:nvPr/>
        </p:nvSpPr>
        <p:spPr>
          <a:xfrm>
            <a:off x="570451" y="3921854"/>
            <a:ext cx="4127384" cy="28931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8. Visual Display</a:t>
            </a:r>
          </a:p>
          <a:p>
            <a:r>
              <a:rPr lang="en-US" b="1">
                <a:solidFill>
                  <a:schemeClr val="bg1"/>
                </a:solidFill>
              </a:rPr>
              <a:t>Real-time visualization overlay</a:t>
            </a:r>
          </a:p>
          <a:p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Color-coded bounding boxes (</a:t>
            </a:r>
            <a:r>
              <a:rPr lang="en-US" sz="1600" err="1">
                <a:solidFill>
                  <a:schemeClr val="bg1"/>
                </a:solidFill>
              </a:rPr>
              <a:t>Green→Red</a:t>
            </a:r>
            <a:r>
              <a:rPr lang="en-US" sz="1600">
                <a:solidFill>
                  <a:schemeClr val="bg1"/>
                </a:solidFill>
              </a:rPr>
              <a:t> by urgency)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Zone clearance indicators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Action text and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FPS and speed display</a:t>
            </a:r>
          </a:p>
          <a:p>
            <a:br>
              <a:rPr lang="en-US" sz="1600"/>
            </a:br>
            <a:br>
              <a:rPr lang="en-US" sz="1600"/>
            </a:br>
            <a:endParaRPr lang="en-IN" sz="1600"/>
          </a:p>
        </p:txBody>
      </p:sp>
      <p:sp>
        <p:nvSpPr>
          <p:cNvPr id="3" name="Teardrop 2">
            <a:extLst>
              <a:ext uri="{FF2B5EF4-FFF2-40B4-BE49-F238E27FC236}">
                <a16:creationId xmlns:a16="http://schemas.microsoft.com/office/drawing/2014/main" id="{85CB262F-CE41-1FD0-D755-79A9FBC70C0C}"/>
              </a:ext>
            </a:extLst>
          </p:cNvPr>
          <p:cNvSpPr/>
          <p:nvPr/>
        </p:nvSpPr>
        <p:spPr>
          <a:xfrm>
            <a:off x="10330296" y="-3047"/>
            <a:ext cx="1861915" cy="707226"/>
          </a:xfrm>
          <a:prstGeom prst="teardrop">
            <a:avLst/>
          </a:prstGeom>
          <a:solidFill>
            <a:schemeClr val="accent1">
              <a:lumMod val="75000"/>
            </a:schemeClr>
          </a:solidFill>
          <a:effectLst>
            <a:outerShdw blurRad="190500" dist="190500" dir="348000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27DDAB-6E93-786D-799C-A18CAEC42E91}"/>
              </a:ext>
            </a:extLst>
          </p:cNvPr>
          <p:cNvSpPr txBox="1"/>
          <p:nvPr/>
        </p:nvSpPr>
        <p:spPr>
          <a:xfrm>
            <a:off x="10718334" y="168909"/>
            <a:ext cx="131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Slide 14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222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27682-E5D3-8DC9-F47E-4824D7F2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65" y="1190793"/>
            <a:ext cx="3187318" cy="4421050"/>
          </a:xfrm>
          <a:effectLst/>
        </p:spPr>
        <p:txBody>
          <a:bodyPr anchor="ctr">
            <a:normAutofit/>
          </a:bodyPr>
          <a:lstStyle/>
          <a:p>
            <a:r>
              <a:rPr lang="en-IN"/>
              <a:t>Demo Scenarios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C3813-0DAC-3B53-4941-ACDBF2BA6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endParaRPr lang="en-US" sz="1600"/>
          </a:p>
        </p:txBody>
      </p:sp>
      <p:sp>
        <p:nvSpPr>
          <p:cNvPr id="11" name="Wave 10">
            <a:extLst>
              <a:ext uri="{FF2B5EF4-FFF2-40B4-BE49-F238E27FC236}">
                <a16:creationId xmlns:a16="http://schemas.microsoft.com/office/drawing/2014/main" id="{52E06BC2-57A9-5F21-0C94-B86B06D5C316}"/>
              </a:ext>
            </a:extLst>
          </p:cNvPr>
          <p:cNvSpPr/>
          <p:nvPr/>
        </p:nvSpPr>
        <p:spPr>
          <a:xfrm>
            <a:off x="3647005" y="410027"/>
            <a:ext cx="8443902" cy="2535962"/>
          </a:xfrm>
          <a:prstGeom prst="wav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Wave 11">
            <a:extLst>
              <a:ext uri="{FF2B5EF4-FFF2-40B4-BE49-F238E27FC236}">
                <a16:creationId xmlns:a16="http://schemas.microsoft.com/office/drawing/2014/main" id="{69CC090C-817E-3EA5-176C-8BAF22C0C61B}"/>
              </a:ext>
            </a:extLst>
          </p:cNvPr>
          <p:cNvSpPr/>
          <p:nvPr/>
        </p:nvSpPr>
        <p:spPr>
          <a:xfrm>
            <a:off x="3665991" y="2133337"/>
            <a:ext cx="8443897" cy="2535962"/>
          </a:xfrm>
          <a:prstGeom prst="wav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Wave 12">
            <a:extLst>
              <a:ext uri="{FF2B5EF4-FFF2-40B4-BE49-F238E27FC236}">
                <a16:creationId xmlns:a16="http://schemas.microsoft.com/office/drawing/2014/main" id="{72FE3773-DCBC-B58F-5CDE-4746C1D90479}"/>
              </a:ext>
            </a:extLst>
          </p:cNvPr>
          <p:cNvSpPr/>
          <p:nvPr/>
        </p:nvSpPr>
        <p:spPr>
          <a:xfrm>
            <a:off x="3685191" y="4022628"/>
            <a:ext cx="8405499" cy="2535962"/>
          </a:xfrm>
          <a:prstGeom prst="wav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E5C5E6-8B17-4119-E16F-74E94C467D63}"/>
              </a:ext>
            </a:extLst>
          </p:cNvPr>
          <p:cNvSpPr txBox="1"/>
          <p:nvPr/>
        </p:nvSpPr>
        <p:spPr>
          <a:xfrm>
            <a:off x="7495211" y="958113"/>
            <a:ext cx="474733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"When a pedestrian steps suddenly in front of the vehicle at close range, the system immediately triggers an EMERGENCY STOP command."</a:t>
            </a:r>
          </a:p>
        </p:txBody>
      </p:sp>
      <p:sp>
        <p:nvSpPr>
          <p:cNvPr id="18" name="Teardrop 17">
            <a:extLst>
              <a:ext uri="{FF2B5EF4-FFF2-40B4-BE49-F238E27FC236}">
                <a16:creationId xmlns:a16="http://schemas.microsoft.com/office/drawing/2014/main" id="{891A6F43-33E9-089A-6EA2-F96E99D6839F}"/>
              </a:ext>
            </a:extLst>
          </p:cNvPr>
          <p:cNvSpPr/>
          <p:nvPr/>
        </p:nvSpPr>
        <p:spPr>
          <a:xfrm>
            <a:off x="10330296" y="-3047"/>
            <a:ext cx="1861915" cy="707226"/>
          </a:xfrm>
          <a:prstGeom prst="teardrop">
            <a:avLst/>
          </a:prstGeom>
          <a:solidFill>
            <a:schemeClr val="accent1">
              <a:lumMod val="75000"/>
            </a:schemeClr>
          </a:solidFill>
          <a:effectLst>
            <a:outerShdw blurRad="190500" dist="190500" dir="348000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0BC7E1-A10B-A03B-FF2B-DBE0FAA5EF23}"/>
              </a:ext>
            </a:extLst>
          </p:cNvPr>
          <p:cNvSpPr txBox="1"/>
          <p:nvPr/>
        </p:nvSpPr>
        <p:spPr>
          <a:xfrm>
            <a:off x="10819371" y="164458"/>
            <a:ext cx="11142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Slide 15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1D8F3AA-49FD-08D2-57A2-64601ADE4C7E}"/>
              </a:ext>
            </a:extLst>
          </p:cNvPr>
          <p:cNvSpPr/>
          <p:nvPr/>
        </p:nvSpPr>
        <p:spPr>
          <a:xfrm>
            <a:off x="2975064" y="371204"/>
            <a:ext cx="3846259" cy="2075403"/>
          </a:xfrm>
          <a:prstGeom prst="rightArrow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3D0B85D-0B24-F954-2F81-7B8D038C9B40}"/>
              </a:ext>
            </a:extLst>
          </p:cNvPr>
          <p:cNvSpPr/>
          <p:nvPr/>
        </p:nvSpPr>
        <p:spPr>
          <a:xfrm>
            <a:off x="3205393" y="2179273"/>
            <a:ext cx="3846259" cy="2075403"/>
          </a:xfrm>
          <a:prstGeom prst="rightArrow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C7DF3FE-D190-A99A-5332-4096510F9E9E}"/>
              </a:ext>
            </a:extLst>
          </p:cNvPr>
          <p:cNvSpPr/>
          <p:nvPr/>
        </p:nvSpPr>
        <p:spPr>
          <a:xfrm>
            <a:off x="3507612" y="4030467"/>
            <a:ext cx="4041156" cy="2045620"/>
          </a:xfrm>
          <a:prstGeom prst="rightArrow">
            <a:avLst/>
          </a:prstGeom>
          <a:solidFill>
            <a:schemeClr val="bg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46F792-7306-FCF5-A296-B06174C4CAD8}"/>
              </a:ext>
            </a:extLst>
          </p:cNvPr>
          <p:cNvSpPr txBox="1"/>
          <p:nvPr/>
        </p:nvSpPr>
        <p:spPr>
          <a:xfrm>
            <a:off x="3138434" y="923459"/>
            <a:ext cx="38412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(</a:t>
            </a:r>
            <a:r>
              <a:rPr lang="en-US" sz="1200" b="1" err="1">
                <a:solidFill>
                  <a:schemeClr val="bg1"/>
                </a:solidFill>
              </a:rPr>
              <a:t>ctrl.Rule</a:t>
            </a:r>
            <a:r>
              <a:rPr lang="en-US" sz="1200" b="1">
                <a:solidFill>
                  <a:schemeClr val="bg1"/>
                </a:solidFill>
              </a:rPr>
              <a:t>(</a:t>
            </a:r>
          </a:p>
          <a:p>
            <a:r>
              <a:rPr lang="en-US" sz="1200" b="1">
                <a:solidFill>
                  <a:schemeClr val="bg1"/>
                </a:solidFill>
              </a:rPr>
              <a:t>    distance['immediate'] &amp; priority['high'] &amp; </a:t>
            </a:r>
            <a:r>
              <a:rPr lang="en-US" sz="1200" b="1" err="1">
                <a:solidFill>
                  <a:schemeClr val="bg1"/>
                </a:solidFill>
              </a:rPr>
              <a:t>lateral_position</a:t>
            </a:r>
            <a:r>
              <a:rPr lang="en-US" sz="1200" b="1">
                <a:solidFill>
                  <a:schemeClr val="bg1"/>
                </a:solidFill>
              </a:rPr>
              <a:t>['center'],</a:t>
            </a:r>
          </a:p>
          <a:p>
            <a:r>
              <a:rPr lang="en-US" sz="1200" b="1">
                <a:solidFill>
                  <a:schemeClr val="bg1"/>
                </a:solidFill>
              </a:rPr>
              <a:t>    (urgency['critical'], </a:t>
            </a:r>
            <a:r>
              <a:rPr lang="en-US" sz="1200" b="1" err="1">
                <a:solidFill>
                  <a:schemeClr val="bg1"/>
                </a:solidFill>
              </a:rPr>
              <a:t>safety_score</a:t>
            </a:r>
            <a:r>
              <a:rPr lang="en-US" sz="1200" b="1">
                <a:solidFill>
                  <a:schemeClr val="bg1"/>
                </a:solidFill>
              </a:rPr>
              <a:t>['unsafe'])</a:t>
            </a:r>
          </a:p>
          <a:p>
            <a:r>
              <a:rPr lang="en-US" sz="1200" b="1">
                <a:solidFill>
                  <a:schemeClr val="bg1"/>
                </a:solidFill>
              </a:rPr>
              <a:t>))</a:t>
            </a:r>
            <a:endParaRPr lang="en-IN" sz="1200" b="1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91832A-DA47-4B08-FA58-D8B9D2927D8F}"/>
              </a:ext>
            </a:extLst>
          </p:cNvPr>
          <p:cNvSpPr txBox="1"/>
          <p:nvPr/>
        </p:nvSpPr>
        <p:spPr>
          <a:xfrm>
            <a:off x="3355370" y="2697761"/>
            <a:ext cx="38412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(</a:t>
            </a:r>
            <a:r>
              <a:rPr lang="en-US" sz="1200" b="1" err="1">
                <a:solidFill>
                  <a:schemeClr val="bg1"/>
                </a:solidFill>
              </a:rPr>
              <a:t>ctrl.Rule</a:t>
            </a:r>
            <a:r>
              <a:rPr lang="en-US" sz="1200" b="1">
                <a:solidFill>
                  <a:schemeClr val="bg1"/>
                </a:solidFill>
              </a:rPr>
              <a:t>(</a:t>
            </a:r>
          </a:p>
          <a:p>
            <a:r>
              <a:rPr lang="en-US" sz="1200" b="1">
                <a:solidFill>
                  <a:schemeClr val="bg1"/>
                </a:solidFill>
              </a:rPr>
              <a:t>    distance['</a:t>
            </a:r>
            <a:r>
              <a:rPr lang="en-US" sz="1200" b="1" err="1">
                <a:solidFill>
                  <a:schemeClr val="bg1"/>
                </a:solidFill>
              </a:rPr>
              <a:t>very_close</a:t>
            </a:r>
            <a:r>
              <a:rPr lang="en-US" sz="1200" b="1">
                <a:solidFill>
                  <a:schemeClr val="bg1"/>
                </a:solidFill>
              </a:rPr>
              <a:t>'] &amp; priority['high'] &amp; confidence['</a:t>
            </a:r>
            <a:r>
              <a:rPr lang="en-US" sz="1200" b="1" err="1">
                <a:solidFill>
                  <a:schemeClr val="bg1"/>
                </a:solidFill>
              </a:rPr>
              <a:t>very_high</a:t>
            </a:r>
            <a:r>
              <a:rPr lang="en-US" sz="1200" b="1">
                <a:solidFill>
                  <a:schemeClr val="bg1"/>
                </a:solidFill>
              </a:rPr>
              <a:t>'],</a:t>
            </a:r>
          </a:p>
          <a:p>
            <a:r>
              <a:rPr lang="en-US" sz="1200" b="1">
                <a:solidFill>
                  <a:schemeClr val="bg1"/>
                </a:solidFill>
              </a:rPr>
              <a:t>    (urgency['critical'], </a:t>
            </a:r>
            <a:r>
              <a:rPr lang="en-US" sz="1200" b="1" err="1">
                <a:solidFill>
                  <a:schemeClr val="bg1"/>
                </a:solidFill>
              </a:rPr>
              <a:t>safety_score</a:t>
            </a:r>
            <a:r>
              <a:rPr lang="en-US" sz="1200" b="1">
                <a:solidFill>
                  <a:schemeClr val="bg1"/>
                </a:solidFill>
              </a:rPr>
              <a:t>['unsafe'])</a:t>
            </a:r>
          </a:p>
          <a:p>
            <a:r>
              <a:rPr lang="en-US" sz="1200" b="1">
                <a:solidFill>
                  <a:schemeClr val="bg1"/>
                </a:solidFill>
              </a:rPr>
              <a:t>))</a:t>
            </a:r>
            <a:endParaRPr lang="en-IN" sz="1200" b="1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0588FC-AAFE-CAD9-697E-882A57172562}"/>
              </a:ext>
            </a:extLst>
          </p:cNvPr>
          <p:cNvSpPr txBox="1"/>
          <p:nvPr/>
        </p:nvSpPr>
        <p:spPr>
          <a:xfrm>
            <a:off x="3507401" y="4521626"/>
            <a:ext cx="4024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(</a:t>
            </a:r>
            <a:r>
              <a:rPr lang="en-US" sz="1200" b="1" err="1">
                <a:solidFill>
                  <a:schemeClr val="bg1"/>
                </a:solidFill>
              </a:rPr>
              <a:t>ctrl.Rule</a:t>
            </a:r>
            <a:r>
              <a:rPr lang="en-US" sz="1200" b="1">
                <a:solidFill>
                  <a:schemeClr val="bg1"/>
                </a:solidFill>
              </a:rPr>
              <a:t>(</a:t>
            </a:r>
          </a:p>
          <a:p>
            <a:r>
              <a:rPr lang="en-US" sz="1200" b="1">
                <a:solidFill>
                  <a:schemeClr val="bg1"/>
                </a:solidFill>
              </a:rPr>
              <a:t>    distance['medium'] &amp; priority['medium'] &amp; </a:t>
            </a:r>
            <a:r>
              <a:rPr lang="en-US" sz="1200" b="1" err="1">
                <a:solidFill>
                  <a:schemeClr val="bg1"/>
                </a:solidFill>
              </a:rPr>
              <a:t>lateral_position</a:t>
            </a:r>
            <a:r>
              <a:rPr lang="en-US" sz="1200" b="1">
                <a:solidFill>
                  <a:schemeClr val="bg1"/>
                </a:solidFill>
              </a:rPr>
              <a:t>['center'],</a:t>
            </a:r>
          </a:p>
          <a:p>
            <a:r>
              <a:rPr lang="en-US" sz="1200" b="1">
                <a:solidFill>
                  <a:schemeClr val="bg1"/>
                </a:solidFill>
              </a:rPr>
              <a:t>    (urgency['moderate'], </a:t>
            </a:r>
            <a:r>
              <a:rPr lang="en-US" sz="1200" b="1" err="1">
                <a:solidFill>
                  <a:schemeClr val="bg1"/>
                </a:solidFill>
              </a:rPr>
              <a:t>safety_score</a:t>
            </a:r>
            <a:r>
              <a:rPr lang="en-US" sz="1200" b="1">
                <a:solidFill>
                  <a:schemeClr val="bg1"/>
                </a:solidFill>
              </a:rPr>
              <a:t>['moderate'])</a:t>
            </a:r>
          </a:p>
          <a:p>
            <a:r>
              <a:rPr lang="en-US" sz="1200" b="1">
                <a:solidFill>
                  <a:schemeClr val="bg1"/>
                </a:solidFill>
              </a:rPr>
              <a:t>))</a:t>
            </a:r>
            <a:endParaRPr lang="en-IN" sz="1200" b="1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463802-4A5C-F182-E1E1-6BDB1A80C973}"/>
              </a:ext>
            </a:extLst>
          </p:cNvPr>
          <p:cNvSpPr txBox="1"/>
          <p:nvPr/>
        </p:nvSpPr>
        <p:spPr>
          <a:xfrm>
            <a:off x="7559723" y="2892494"/>
            <a:ext cx="474733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"When detecting a person crossing the road 10 meters ahead, the system urgently warns: 'SLOW DOWN - Pedestrian crossing!'"</a:t>
            </a:r>
            <a:br>
              <a:rPr lang="en-US" sz="1600"/>
            </a:br>
            <a:endParaRPr lang="en-US" sz="16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63D98A-4D4E-4830-3925-0D7D22974BE1}"/>
              </a:ext>
            </a:extLst>
          </p:cNvPr>
          <p:cNvSpPr txBox="1"/>
          <p:nvPr/>
        </p:nvSpPr>
        <p:spPr>
          <a:xfrm>
            <a:off x="7502194" y="4737880"/>
            <a:ext cx="474733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"When a vehicle is detected 50 meters ahead, the system advises: 'CONTINUE STRAIGHT with caution - Vehicle ahead' while monitoring for changes."</a:t>
            </a:r>
          </a:p>
        </p:txBody>
      </p:sp>
    </p:spTree>
    <p:extLst>
      <p:ext uri="{BB962C8B-B14F-4D97-AF65-F5344CB8AC3E}">
        <p14:creationId xmlns:p14="http://schemas.microsoft.com/office/powerpoint/2010/main" val="4058504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AEA31-31AB-10BD-E24E-5B2608BBA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Challenges &amp; Mitigation Strategies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21F0B-6983-62E8-786C-F78127D70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728" y="1934793"/>
            <a:ext cx="3102187" cy="565824"/>
          </a:xfrm>
        </p:spPr>
        <p:txBody>
          <a:bodyPr/>
          <a:lstStyle/>
          <a:p>
            <a:r>
              <a:rPr lang="en-US">
                <a:ea typeface="+mn-lt"/>
                <a:cs typeface="+mn-lt"/>
              </a:rPr>
              <a:t>Challenge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1E699C-3968-47C5-9F1E-8B00C3DFB8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026676" y="1934793"/>
            <a:ext cx="7355322" cy="565824"/>
          </a:xfrm>
        </p:spPr>
        <p:txBody>
          <a:bodyPr/>
          <a:lstStyle/>
          <a:p>
            <a:r>
              <a:rPr lang="en-US">
                <a:ea typeface="+mn-lt"/>
                <a:cs typeface="+mn-lt"/>
              </a:rPr>
              <a:t>Mitigation Strategy</a:t>
            </a:r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D7043C-671E-58D2-D5C2-B79FB4A6857F}"/>
              </a:ext>
            </a:extLst>
          </p:cNvPr>
          <p:cNvSpPr/>
          <p:nvPr/>
        </p:nvSpPr>
        <p:spPr>
          <a:xfrm>
            <a:off x="789993" y="2512709"/>
            <a:ext cx="3203037" cy="6019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D6C653-6D37-B220-C75F-7E3AE203D645}"/>
              </a:ext>
            </a:extLst>
          </p:cNvPr>
          <p:cNvSpPr/>
          <p:nvPr/>
        </p:nvSpPr>
        <p:spPr>
          <a:xfrm>
            <a:off x="789993" y="3243394"/>
            <a:ext cx="3213475" cy="58109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15F8C36-0DA4-A1D0-B1F7-46A6E8506C59}"/>
              </a:ext>
            </a:extLst>
          </p:cNvPr>
          <p:cNvSpPr/>
          <p:nvPr/>
        </p:nvSpPr>
        <p:spPr>
          <a:xfrm>
            <a:off x="831747" y="3942764"/>
            <a:ext cx="3203037" cy="5706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88038E3-434B-B938-F01E-E874215EE038}"/>
              </a:ext>
            </a:extLst>
          </p:cNvPr>
          <p:cNvSpPr/>
          <p:nvPr/>
        </p:nvSpPr>
        <p:spPr>
          <a:xfrm>
            <a:off x="789990" y="4652571"/>
            <a:ext cx="3203037" cy="65416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1B552BB1-587E-6289-165C-4F9F34937198}"/>
              </a:ext>
            </a:extLst>
          </p:cNvPr>
          <p:cNvSpPr/>
          <p:nvPr/>
        </p:nvSpPr>
        <p:spPr>
          <a:xfrm>
            <a:off x="4170787" y="2513189"/>
            <a:ext cx="6938995" cy="613808"/>
          </a:xfrm>
          <a:prstGeom prst="homePlat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FBDF5F-5EFD-9963-FD57-D992312AE569}"/>
              </a:ext>
            </a:extLst>
          </p:cNvPr>
          <p:cNvSpPr txBox="1"/>
          <p:nvPr/>
        </p:nvSpPr>
        <p:spPr>
          <a:xfrm>
            <a:off x="912835" y="2596430"/>
            <a:ext cx="31219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b="1">
                <a:solidFill>
                  <a:schemeClr val="bg1"/>
                </a:solidFill>
              </a:rPr>
              <a:t>Real-time Processing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95B730-0C20-3678-A8E9-FB46A8DA59D0}"/>
              </a:ext>
            </a:extLst>
          </p:cNvPr>
          <p:cNvSpPr txBox="1"/>
          <p:nvPr/>
        </p:nvSpPr>
        <p:spPr>
          <a:xfrm>
            <a:off x="860818" y="3327639"/>
            <a:ext cx="42923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b="1">
                <a:solidFill>
                  <a:schemeClr val="bg1"/>
                </a:solidFill>
              </a:rPr>
              <a:t>Intelligent Decision Making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EE132B-39AF-0C8B-030C-D5A344226D30}"/>
              </a:ext>
            </a:extLst>
          </p:cNvPr>
          <p:cNvSpPr txBox="1"/>
          <p:nvPr/>
        </p:nvSpPr>
        <p:spPr>
          <a:xfrm>
            <a:off x="789991" y="4026223"/>
            <a:ext cx="40938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b="1">
                <a:solidFill>
                  <a:schemeClr val="bg1"/>
                </a:solidFill>
              </a:rPr>
              <a:t>Continuous Voice Guidance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532744-CEE6-919B-098B-73692FE513FB}"/>
              </a:ext>
            </a:extLst>
          </p:cNvPr>
          <p:cNvSpPr txBox="1"/>
          <p:nvPr/>
        </p:nvSpPr>
        <p:spPr>
          <a:xfrm>
            <a:off x="860818" y="4780755"/>
            <a:ext cx="4412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b="1"/>
              <a:t> Accurate Spatial Analysis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A368C2-2C94-CD01-0720-35E8A48C78F7}"/>
              </a:ext>
            </a:extLst>
          </p:cNvPr>
          <p:cNvSpPr txBox="1"/>
          <p:nvPr/>
        </p:nvSpPr>
        <p:spPr>
          <a:xfrm>
            <a:off x="4382348" y="2509913"/>
            <a:ext cx="73277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/>
              <a:t>YOLOv8 + OpenCV optimization + threading</a:t>
            </a:r>
            <a:endParaRPr lang="en-US"/>
          </a:p>
        </p:txBody>
      </p:sp>
      <p:sp>
        <p:nvSpPr>
          <p:cNvPr id="28" name="Arrow: Pentagon 27">
            <a:extLst>
              <a:ext uri="{FF2B5EF4-FFF2-40B4-BE49-F238E27FC236}">
                <a16:creationId xmlns:a16="http://schemas.microsoft.com/office/drawing/2014/main" id="{2743A6DB-6F6F-BA14-D04E-987448C17B87}"/>
              </a:ext>
            </a:extLst>
          </p:cNvPr>
          <p:cNvSpPr/>
          <p:nvPr/>
        </p:nvSpPr>
        <p:spPr>
          <a:xfrm>
            <a:off x="4202100" y="3275189"/>
            <a:ext cx="5947352" cy="572054"/>
          </a:xfrm>
          <a:prstGeom prst="homePlat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270F31-AB5B-0F56-0F51-5ABE1A6772CB}"/>
              </a:ext>
            </a:extLst>
          </p:cNvPr>
          <p:cNvSpPr txBox="1"/>
          <p:nvPr/>
        </p:nvSpPr>
        <p:spPr>
          <a:xfrm>
            <a:off x="4385271" y="3242689"/>
            <a:ext cx="55761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Fuzzy logic with 30+ human-readable rules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041FF842-417A-F7D7-5E40-D90C697E71B3}"/>
              </a:ext>
            </a:extLst>
          </p:cNvPr>
          <p:cNvSpPr/>
          <p:nvPr/>
        </p:nvSpPr>
        <p:spPr>
          <a:xfrm>
            <a:off x="4202100" y="3943243"/>
            <a:ext cx="7210393" cy="613807"/>
          </a:xfrm>
          <a:prstGeom prst="homePlat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BE5D2E-B42C-FCE4-1EE8-D5D83AC783C1}"/>
              </a:ext>
            </a:extLst>
          </p:cNvPr>
          <p:cNvSpPr txBox="1"/>
          <p:nvPr/>
        </p:nvSpPr>
        <p:spPr>
          <a:xfrm>
            <a:off x="4380294" y="3945465"/>
            <a:ext cx="69443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/>
              <a:t>pyttsx3 with threaded execution</a:t>
            </a:r>
            <a:endParaRPr lang="en-US"/>
          </a:p>
        </p:txBody>
      </p:sp>
      <p:sp>
        <p:nvSpPr>
          <p:cNvPr id="33" name="Arrow: Pentagon 32">
            <a:extLst>
              <a:ext uri="{FF2B5EF4-FFF2-40B4-BE49-F238E27FC236}">
                <a16:creationId xmlns:a16="http://schemas.microsoft.com/office/drawing/2014/main" id="{CF6EBD1A-70C8-20C4-31F0-850370A1F409}"/>
              </a:ext>
            </a:extLst>
          </p:cNvPr>
          <p:cNvSpPr/>
          <p:nvPr/>
        </p:nvSpPr>
        <p:spPr>
          <a:xfrm>
            <a:off x="4170784" y="4653051"/>
            <a:ext cx="6824175" cy="634683"/>
          </a:xfrm>
          <a:prstGeom prst="homePlat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3B4105-F7D0-0DAA-F7A4-44DE6D974049}"/>
              </a:ext>
            </a:extLst>
          </p:cNvPr>
          <p:cNvSpPr txBox="1"/>
          <p:nvPr/>
        </p:nvSpPr>
        <p:spPr>
          <a:xfrm>
            <a:off x="4378768" y="4656904"/>
            <a:ext cx="594381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 </a:t>
            </a:r>
            <a:r>
              <a:rPr lang="en-US"/>
              <a:t>NumPy for mathematical calculations + zone-based logic</a:t>
            </a:r>
            <a:br>
              <a:rPr lang="en-US"/>
            </a:br>
            <a:endParaRPr lang="en-US"/>
          </a:p>
        </p:txBody>
      </p:sp>
      <p:sp>
        <p:nvSpPr>
          <p:cNvPr id="40" name="Teardrop 39">
            <a:extLst>
              <a:ext uri="{FF2B5EF4-FFF2-40B4-BE49-F238E27FC236}">
                <a16:creationId xmlns:a16="http://schemas.microsoft.com/office/drawing/2014/main" id="{06DAA53B-03BA-C464-B2BB-E539D424AC21}"/>
              </a:ext>
            </a:extLst>
          </p:cNvPr>
          <p:cNvSpPr/>
          <p:nvPr/>
        </p:nvSpPr>
        <p:spPr>
          <a:xfrm>
            <a:off x="10330296" y="-3047"/>
            <a:ext cx="1861915" cy="707226"/>
          </a:xfrm>
          <a:prstGeom prst="teardrop">
            <a:avLst/>
          </a:prstGeom>
          <a:solidFill>
            <a:schemeClr val="accent1">
              <a:lumMod val="75000"/>
            </a:schemeClr>
          </a:solidFill>
          <a:effectLst>
            <a:outerShdw blurRad="190500" dist="190500" dir="348000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772009-4E8D-3489-5A78-D4AEE8FCDC8D}"/>
              </a:ext>
            </a:extLst>
          </p:cNvPr>
          <p:cNvSpPr txBox="1"/>
          <p:nvPr/>
        </p:nvSpPr>
        <p:spPr>
          <a:xfrm>
            <a:off x="10819371" y="164458"/>
            <a:ext cx="11142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Slide 16</a:t>
            </a:r>
          </a:p>
        </p:txBody>
      </p:sp>
    </p:spTree>
    <p:extLst>
      <p:ext uri="{BB962C8B-B14F-4D97-AF65-F5344CB8AC3E}">
        <p14:creationId xmlns:p14="http://schemas.microsoft.com/office/powerpoint/2010/main" val="2457245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D480-EB97-7B1D-C1FD-C9B2BE13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88" y="858248"/>
            <a:ext cx="10571998" cy="970450"/>
          </a:xfrm>
        </p:spPr>
        <p:txBody>
          <a:bodyPr/>
          <a:lstStyle/>
          <a:p>
            <a:r>
              <a:rPr lang="en-IN"/>
              <a:t>Performance Metrics</a:t>
            </a:r>
            <a:br>
              <a:rPr lang="en-IN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F0F45-B03B-3122-A7D5-AEF50C6DF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Accuracy:</a:t>
            </a:r>
          </a:p>
          <a:p>
            <a:r>
              <a:rPr lang="en-US"/>
              <a:t>Object detection: 85%+ accuracy</a:t>
            </a:r>
          </a:p>
          <a:p>
            <a:r>
              <a:rPr lang="en-US"/>
              <a:t>Distance estimation: ±10% error margin</a:t>
            </a:r>
          </a:p>
          <a:p>
            <a:r>
              <a:rPr lang="en-US"/>
              <a:t>Response time: &lt;100ms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Reliability:</a:t>
            </a:r>
          </a:p>
          <a:p>
            <a:r>
              <a:rPr lang="en-US"/>
              <a:t>Continuous operation</a:t>
            </a:r>
          </a:p>
          <a:p>
            <a:r>
              <a:rPr lang="en-US"/>
              <a:t>No voice lag</a:t>
            </a:r>
          </a:p>
          <a:p>
            <a:r>
              <a:rPr lang="en-US"/>
              <a:t>Stable frame processing</a:t>
            </a:r>
          </a:p>
          <a:p>
            <a:pPr marL="0" indent="0">
              <a:buNone/>
            </a:pPr>
            <a:br>
              <a:rPr lang="en-US"/>
            </a:br>
            <a:endParaRPr lang="en-IN"/>
          </a:p>
        </p:txBody>
      </p:sp>
      <p:sp>
        <p:nvSpPr>
          <p:cNvPr id="4" name="Teardrop 3">
            <a:extLst>
              <a:ext uri="{FF2B5EF4-FFF2-40B4-BE49-F238E27FC236}">
                <a16:creationId xmlns:a16="http://schemas.microsoft.com/office/drawing/2014/main" id="{E18680AB-1FD6-3E1C-8E3F-AFF8D83DA9AE}"/>
              </a:ext>
            </a:extLst>
          </p:cNvPr>
          <p:cNvSpPr/>
          <p:nvPr/>
        </p:nvSpPr>
        <p:spPr>
          <a:xfrm>
            <a:off x="10330296" y="-3047"/>
            <a:ext cx="1861915" cy="707226"/>
          </a:xfrm>
          <a:prstGeom prst="teardrop">
            <a:avLst/>
          </a:prstGeom>
          <a:solidFill>
            <a:schemeClr val="accent1">
              <a:lumMod val="75000"/>
            </a:schemeClr>
          </a:solidFill>
          <a:effectLst>
            <a:outerShdw blurRad="190500" dist="190500" dir="348000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FBFD85-9BA2-B7BD-881A-E669BA397C22}"/>
              </a:ext>
            </a:extLst>
          </p:cNvPr>
          <p:cNvSpPr txBox="1"/>
          <p:nvPr/>
        </p:nvSpPr>
        <p:spPr>
          <a:xfrm>
            <a:off x="10612073" y="176169"/>
            <a:ext cx="133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Slide 17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227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6711F6-9AA7-F586-32CD-362EC5975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en-US">
                <a:ea typeface="+mj-lt"/>
                <a:cs typeface="+mj-lt"/>
              </a:rPr>
              <a:t>Extensions &amp; Future Scope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AA8E0-552B-E673-5603-631116C18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8449" y="724993"/>
            <a:ext cx="6465883" cy="5928109"/>
          </a:xfrm>
          <a:effectLst/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Current System</a:t>
            </a:r>
            <a:r>
              <a:rPr lang="en-US">
                <a:ea typeface="+mn-lt"/>
                <a:cs typeface="+mn-lt"/>
              </a:rPr>
              <a:t>: Real time Camera input</a:t>
            </a:r>
            <a:endParaRPr lang="en-US"/>
          </a:p>
          <a:p>
            <a:pPr marL="0" indent="0">
              <a:buNone/>
            </a:pP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Future Improvements:</a:t>
            </a: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 b="1">
                <a:solidFill>
                  <a:schemeClr val="accent2"/>
                </a:solidFill>
              </a:rPr>
              <a:t>Short-term:</a:t>
            </a:r>
          </a:p>
          <a:p>
            <a:r>
              <a:rPr lang="en-US"/>
              <a:t>Multiple camera support</a:t>
            </a:r>
          </a:p>
          <a:p>
            <a:r>
              <a:rPr lang="en-US"/>
              <a:t>Weather condition adaptation</a:t>
            </a:r>
          </a:p>
          <a:p>
            <a:r>
              <a:rPr lang="en-US"/>
              <a:t>GPS integration</a:t>
            </a:r>
          </a:p>
          <a:p>
            <a:pPr marL="0" indent="0">
              <a:buNone/>
            </a:pPr>
            <a:br>
              <a:rPr lang="en-US"/>
            </a:br>
            <a:endParaRPr lang="en-US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b="1">
                <a:solidFill>
                  <a:schemeClr val="accent3"/>
                </a:solidFill>
              </a:rPr>
              <a:t>Long-term:</a:t>
            </a:r>
          </a:p>
          <a:p>
            <a:r>
              <a:rPr lang="en-US"/>
              <a:t>Machine learning improvements</a:t>
            </a:r>
          </a:p>
          <a:p>
            <a:r>
              <a:rPr lang="en-US"/>
              <a:t>Multi-language support</a:t>
            </a:r>
          </a:p>
          <a:p>
            <a:r>
              <a:rPr lang="en-US"/>
              <a:t>Mobile app deployment</a:t>
            </a:r>
          </a:p>
          <a:p>
            <a:pPr marL="0" indent="0">
              <a:buNone/>
            </a:pPr>
            <a:br>
              <a:rPr lang="en-US"/>
            </a:br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E66693-3BDE-CA9D-3A92-CFE78DF0B911}"/>
              </a:ext>
            </a:extLst>
          </p:cNvPr>
          <p:cNvSpPr/>
          <p:nvPr/>
        </p:nvSpPr>
        <p:spPr>
          <a:xfrm>
            <a:off x="5198372" y="604462"/>
            <a:ext cx="4216121" cy="861358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7B31543-3648-FCA4-70C1-0DE36FC794F8}"/>
              </a:ext>
            </a:extLst>
          </p:cNvPr>
          <p:cNvSpPr/>
          <p:nvPr/>
        </p:nvSpPr>
        <p:spPr>
          <a:xfrm>
            <a:off x="5343514" y="725413"/>
            <a:ext cx="4216121" cy="8613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0F2E53-5A69-0BAE-661B-BEA960AA0583}"/>
              </a:ext>
            </a:extLst>
          </p:cNvPr>
          <p:cNvSpPr/>
          <p:nvPr/>
        </p:nvSpPr>
        <p:spPr>
          <a:xfrm>
            <a:off x="5549133" y="471414"/>
            <a:ext cx="4216121" cy="861358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ardrop 13">
            <a:extLst>
              <a:ext uri="{FF2B5EF4-FFF2-40B4-BE49-F238E27FC236}">
                <a16:creationId xmlns:a16="http://schemas.microsoft.com/office/drawing/2014/main" id="{4E50726A-C6D8-A2F5-C3A0-2535DB42B006}"/>
              </a:ext>
            </a:extLst>
          </p:cNvPr>
          <p:cNvSpPr/>
          <p:nvPr/>
        </p:nvSpPr>
        <p:spPr>
          <a:xfrm>
            <a:off x="10330296" y="-3047"/>
            <a:ext cx="1861915" cy="707226"/>
          </a:xfrm>
          <a:prstGeom prst="teardrop">
            <a:avLst/>
          </a:prstGeom>
          <a:solidFill>
            <a:schemeClr val="accent1">
              <a:lumMod val="75000"/>
            </a:schemeClr>
          </a:solidFill>
          <a:effectLst>
            <a:outerShdw blurRad="190500" dist="190500" dir="348000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DD3EBA-47A2-7CD2-2C9A-225939E87CE5}"/>
              </a:ext>
            </a:extLst>
          </p:cNvPr>
          <p:cNvSpPr txBox="1"/>
          <p:nvPr/>
        </p:nvSpPr>
        <p:spPr>
          <a:xfrm>
            <a:off x="10819371" y="164458"/>
            <a:ext cx="11142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Slide 18</a:t>
            </a:r>
          </a:p>
        </p:txBody>
      </p:sp>
    </p:spTree>
    <p:extLst>
      <p:ext uri="{BB962C8B-B14F-4D97-AF65-F5344CB8AC3E}">
        <p14:creationId xmlns:p14="http://schemas.microsoft.com/office/powerpoint/2010/main" val="2037651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66DD-2031-E6CC-ECF4-5D9DC89FC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Hackathon Details 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65EA68-6D0A-17EC-57F4-0118DF28FF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533169"/>
              </p:ext>
            </p:extLst>
          </p:nvPr>
        </p:nvGraphicFramePr>
        <p:xfrm>
          <a:off x="201705" y="2723029"/>
          <a:ext cx="11169169" cy="2652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0576">
                  <a:extLst>
                    <a:ext uri="{9D8B030D-6E8A-4147-A177-3AD203B41FA5}">
                      <a16:colId xmlns:a16="http://schemas.microsoft.com/office/drawing/2014/main" val="611933806"/>
                    </a:ext>
                  </a:extLst>
                </a:gridCol>
                <a:gridCol w="4208593">
                  <a:extLst>
                    <a:ext uri="{9D8B030D-6E8A-4147-A177-3AD203B41FA5}">
                      <a16:colId xmlns:a16="http://schemas.microsoft.com/office/drawing/2014/main" val="3943259647"/>
                    </a:ext>
                  </a:extLst>
                </a:gridCol>
              </a:tblGrid>
              <a:tr h="884315"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Mrunmayee Limaye (BT23CSE019)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/>
                        <a:t>                         </a:t>
                      </a:r>
                      <a:r>
                        <a:rPr lang="en-US">
                          <a:hlinkClick r:id="rId2"/>
                        </a:rPr>
                        <a:t>See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084638"/>
                  </a:ext>
                </a:extLst>
              </a:tr>
              <a:tr h="884315">
                <a:tc>
                  <a:txBody>
                    <a:bodyPr/>
                    <a:lstStyle/>
                    <a:p>
                      <a:endParaRPr lang="en-US" b="1"/>
                    </a:p>
                    <a:p>
                      <a:pPr lvl="0">
                        <a:buNone/>
                      </a:pPr>
                      <a:r>
                        <a:rPr lang="en-US" b="1"/>
                        <a:t>Anagha Choudhary (BT23CSE034)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>
                        <a:latin typeface="Century Gothic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entury Gothic"/>
                        </a:rPr>
                        <a:t>                         </a:t>
                      </a:r>
                      <a:r>
                        <a:rPr lang="en-US" sz="1800" b="0" i="0" u="none" strike="noStrike" noProof="0">
                          <a:latin typeface="Century Gothic"/>
                          <a:hlinkClick r:id="rId3"/>
                        </a:rPr>
                        <a:t>See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304178"/>
                  </a:ext>
                </a:extLst>
              </a:tr>
              <a:tr h="884315">
                <a:tc>
                  <a:txBody>
                    <a:bodyPr/>
                    <a:lstStyle/>
                    <a:p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b="1"/>
                        <a:t>Sanika </a:t>
                      </a:r>
                      <a:r>
                        <a:rPr lang="en-US" b="1" err="1"/>
                        <a:t>Budhe</a:t>
                      </a:r>
                      <a:r>
                        <a:rPr lang="en-US" b="1"/>
                        <a:t> (BT23CSE036)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>
                        <a:latin typeface="Century Gothic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entury Gothic"/>
                        </a:rPr>
                        <a:t>                         </a:t>
                      </a:r>
                      <a:r>
                        <a:rPr lang="en-US" sz="1800" b="0" i="0" u="none" strike="noStrike" noProof="0">
                          <a:latin typeface="Century Gothic"/>
                          <a:hlinkClick r:id="rId3"/>
                        </a:rPr>
                        <a:t>See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1939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31397D6-1156-B08E-C7AF-A905D13C3B43}"/>
              </a:ext>
            </a:extLst>
          </p:cNvPr>
          <p:cNvSpPr txBox="1"/>
          <p:nvPr/>
        </p:nvSpPr>
        <p:spPr>
          <a:xfrm>
            <a:off x="2047227" y="2199801"/>
            <a:ext cx="460130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/>
              <a:t>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5A6B50-3941-EEEF-FB7A-28647B302474}"/>
              </a:ext>
            </a:extLst>
          </p:cNvPr>
          <p:cNvSpPr txBox="1"/>
          <p:nvPr/>
        </p:nvSpPr>
        <p:spPr>
          <a:xfrm>
            <a:off x="7145904" y="2200663"/>
            <a:ext cx="57589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Drive Link</a:t>
            </a:r>
          </a:p>
        </p:txBody>
      </p:sp>
    </p:spTree>
    <p:extLst>
      <p:ext uri="{BB962C8B-B14F-4D97-AF65-F5344CB8AC3E}">
        <p14:creationId xmlns:p14="http://schemas.microsoft.com/office/powerpoint/2010/main" val="2363410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8775F366-526C-4C42-8931-696FFE8A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FE8DED1-24FF-4A79-873B-ECE3ABE73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AA6A048-501A-4387-906B-B8A8543E7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7093" y="643467"/>
            <a:ext cx="10917814" cy="5571066"/>
          </a:xfrm>
          <a:custGeom>
            <a:avLst/>
            <a:gdLst>
              <a:gd name="connsiteX0" fmla="*/ 195712 w 10917814"/>
              <a:gd name="connsiteY0" fmla="*/ 0 h 5571066"/>
              <a:gd name="connsiteX1" fmla="*/ 5062165 w 10917814"/>
              <a:gd name="connsiteY1" fmla="*/ 0 h 5571066"/>
              <a:gd name="connsiteX2" fmla="*/ 5419638 w 10917814"/>
              <a:gd name="connsiteY2" fmla="*/ 268105 h 5571066"/>
              <a:gd name="connsiteX3" fmla="*/ 5428105 w 10917814"/>
              <a:gd name="connsiteY3" fmla="*/ 271280 h 5571066"/>
              <a:gd name="connsiteX4" fmla="*/ 5440804 w 10917814"/>
              <a:gd name="connsiteY4" fmla="*/ 276043 h 5571066"/>
              <a:gd name="connsiteX5" fmla="*/ 5453505 w 10917814"/>
              <a:gd name="connsiteY5" fmla="*/ 280805 h 5571066"/>
              <a:gd name="connsiteX6" fmla="*/ 5464088 w 10917814"/>
              <a:gd name="connsiteY6" fmla="*/ 280805 h 5571066"/>
              <a:gd name="connsiteX7" fmla="*/ 5476788 w 10917814"/>
              <a:gd name="connsiteY7" fmla="*/ 280805 h 5571066"/>
              <a:gd name="connsiteX8" fmla="*/ 5487371 w 10917814"/>
              <a:gd name="connsiteY8" fmla="*/ 276043 h 5571066"/>
              <a:gd name="connsiteX9" fmla="*/ 5500071 w 10917814"/>
              <a:gd name="connsiteY9" fmla="*/ 271280 h 5571066"/>
              <a:gd name="connsiteX10" fmla="*/ 5508538 w 10917814"/>
              <a:gd name="connsiteY10" fmla="*/ 268105 h 5571066"/>
              <a:gd name="connsiteX11" fmla="*/ 5866011 w 10917814"/>
              <a:gd name="connsiteY11" fmla="*/ 0 h 5571066"/>
              <a:gd name="connsiteX12" fmla="*/ 10722102 w 10917814"/>
              <a:gd name="connsiteY12" fmla="*/ 0 h 5571066"/>
              <a:gd name="connsiteX13" fmla="*/ 10917814 w 10917814"/>
              <a:gd name="connsiteY13" fmla="*/ 195712 h 5571066"/>
              <a:gd name="connsiteX14" fmla="*/ 10917814 w 10917814"/>
              <a:gd name="connsiteY14" fmla="*/ 5375354 h 5571066"/>
              <a:gd name="connsiteX15" fmla="*/ 10722102 w 10917814"/>
              <a:gd name="connsiteY15" fmla="*/ 5571066 h 5571066"/>
              <a:gd name="connsiteX16" fmla="*/ 195712 w 10917814"/>
              <a:gd name="connsiteY16" fmla="*/ 5571066 h 5571066"/>
              <a:gd name="connsiteX17" fmla="*/ 0 w 10917814"/>
              <a:gd name="connsiteY17" fmla="*/ 5375354 h 5571066"/>
              <a:gd name="connsiteX18" fmla="*/ 0 w 10917814"/>
              <a:gd name="connsiteY18" fmla="*/ 195712 h 5571066"/>
              <a:gd name="connsiteX19" fmla="*/ 195712 w 10917814"/>
              <a:gd name="connsiteY19" fmla="*/ 0 h 557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917814" h="5571066">
                <a:moveTo>
                  <a:pt x="195712" y="0"/>
                </a:moveTo>
                <a:lnTo>
                  <a:pt x="5062165" y="0"/>
                </a:lnTo>
                <a:lnTo>
                  <a:pt x="5419638" y="268105"/>
                </a:lnTo>
                <a:lnTo>
                  <a:pt x="5428105" y="271280"/>
                </a:lnTo>
                <a:lnTo>
                  <a:pt x="5440804" y="276043"/>
                </a:lnTo>
                <a:lnTo>
                  <a:pt x="5453505" y="280805"/>
                </a:lnTo>
                <a:lnTo>
                  <a:pt x="5464088" y="280805"/>
                </a:lnTo>
                <a:lnTo>
                  <a:pt x="5476788" y="280805"/>
                </a:lnTo>
                <a:lnTo>
                  <a:pt x="5487371" y="276043"/>
                </a:lnTo>
                <a:lnTo>
                  <a:pt x="5500071" y="271280"/>
                </a:lnTo>
                <a:lnTo>
                  <a:pt x="5508538" y="268105"/>
                </a:lnTo>
                <a:lnTo>
                  <a:pt x="5866011" y="0"/>
                </a:lnTo>
                <a:lnTo>
                  <a:pt x="10722102" y="0"/>
                </a:lnTo>
                <a:cubicBezTo>
                  <a:pt x="10830191" y="0"/>
                  <a:pt x="10917814" y="87623"/>
                  <a:pt x="10917814" y="195712"/>
                </a:cubicBezTo>
                <a:lnTo>
                  <a:pt x="10917814" y="5375354"/>
                </a:lnTo>
                <a:cubicBezTo>
                  <a:pt x="10917814" y="5483443"/>
                  <a:pt x="10830191" y="5571066"/>
                  <a:pt x="10722102" y="5571066"/>
                </a:cubicBezTo>
                <a:lnTo>
                  <a:pt x="195712" y="5571066"/>
                </a:lnTo>
                <a:cubicBezTo>
                  <a:pt x="87623" y="5571066"/>
                  <a:pt x="0" y="5483443"/>
                  <a:pt x="0" y="5375354"/>
                </a:cubicBezTo>
                <a:lnTo>
                  <a:pt x="0" y="195712"/>
                </a:lnTo>
                <a:cubicBezTo>
                  <a:pt x="0" y="87623"/>
                  <a:pt x="87623" y="0"/>
                  <a:pt x="195712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2467D6-A3C3-DB48-9940-B5A8BFB97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559" y="1286935"/>
            <a:ext cx="9638153" cy="266837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sz="5400">
              <a:solidFill>
                <a:schemeClr val="tx1"/>
              </a:solidFill>
            </a:endParaRPr>
          </a:p>
        </p:txBody>
      </p:sp>
      <p:sp>
        <p:nvSpPr>
          <p:cNvPr id="5" name="Wave 4">
            <a:extLst>
              <a:ext uri="{FF2B5EF4-FFF2-40B4-BE49-F238E27FC236}">
                <a16:creationId xmlns:a16="http://schemas.microsoft.com/office/drawing/2014/main" id="{0BD8182D-2B9D-FAE7-FABF-92AA32F0E3FD}"/>
              </a:ext>
            </a:extLst>
          </p:cNvPr>
          <p:cNvSpPr/>
          <p:nvPr/>
        </p:nvSpPr>
        <p:spPr>
          <a:xfrm>
            <a:off x="1511154" y="1526266"/>
            <a:ext cx="8976259" cy="3687217"/>
          </a:xfrm>
          <a:prstGeom prst="wav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Wave 5">
            <a:extLst>
              <a:ext uri="{FF2B5EF4-FFF2-40B4-BE49-F238E27FC236}">
                <a16:creationId xmlns:a16="http://schemas.microsoft.com/office/drawing/2014/main" id="{D78662D2-19BB-555C-6509-39B45F5F768C}"/>
              </a:ext>
            </a:extLst>
          </p:cNvPr>
          <p:cNvSpPr/>
          <p:nvPr/>
        </p:nvSpPr>
        <p:spPr>
          <a:xfrm>
            <a:off x="1740798" y="1087855"/>
            <a:ext cx="8976259" cy="3687217"/>
          </a:xfrm>
          <a:prstGeom prst="wave">
            <a:avLst/>
          </a:prstGeom>
          <a:solidFill>
            <a:schemeClr val="accent1">
              <a:lumMod val="75000"/>
            </a:schemeClr>
          </a:solidFill>
          <a:effectLst>
            <a:outerShdw blurRad="63500" dist="508000" dir="17580000">
              <a:srgbClr val="000000">
                <a:alpha val="51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89809E-B6A9-4FB5-F65E-1C37860D0A20}"/>
              </a:ext>
            </a:extLst>
          </p:cNvPr>
          <p:cNvSpPr txBox="1"/>
          <p:nvPr/>
        </p:nvSpPr>
        <p:spPr>
          <a:xfrm>
            <a:off x="3685867" y="2326438"/>
            <a:ext cx="680019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200" b="1" i="1"/>
              <a:t>Thank You !</a:t>
            </a:r>
          </a:p>
        </p:txBody>
      </p:sp>
      <p:sp>
        <p:nvSpPr>
          <p:cNvPr id="12" name="Teardrop 11">
            <a:extLst>
              <a:ext uri="{FF2B5EF4-FFF2-40B4-BE49-F238E27FC236}">
                <a16:creationId xmlns:a16="http://schemas.microsoft.com/office/drawing/2014/main" id="{C9EF7E0B-7896-3383-E944-D03424692315}"/>
              </a:ext>
            </a:extLst>
          </p:cNvPr>
          <p:cNvSpPr/>
          <p:nvPr/>
        </p:nvSpPr>
        <p:spPr>
          <a:xfrm>
            <a:off x="10330296" y="-3047"/>
            <a:ext cx="1861915" cy="707226"/>
          </a:xfrm>
          <a:prstGeom prst="teardrop">
            <a:avLst/>
          </a:prstGeom>
          <a:solidFill>
            <a:schemeClr val="accent1">
              <a:lumMod val="75000"/>
            </a:schemeClr>
          </a:solidFill>
          <a:effectLst>
            <a:outerShdw blurRad="190500" dist="190500" dir="348000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Slide 16</a:t>
            </a:r>
          </a:p>
        </p:txBody>
      </p:sp>
    </p:spTree>
    <p:extLst>
      <p:ext uri="{BB962C8B-B14F-4D97-AF65-F5344CB8AC3E}">
        <p14:creationId xmlns:p14="http://schemas.microsoft.com/office/powerpoint/2010/main" val="58510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{1C85B591-18ED-4329-8239-40F16BBF21B9}tf03457503</Template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Quotable</vt:lpstr>
      <vt:lpstr>Context-Aware Voice Navigation System Using YOLO-Based Object Detection and Neuro-Fuzzy  Course Title: Neuro Fuzzy Techniques</vt:lpstr>
      <vt:lpstr>Index</vt:lpstr>
      <vt:lpstr>Project Overview</vt:lpstr>
      <vt:lpstr>Problem Statement</vt:lpstr>
      <vt:lpstr>System Architecture</vt:lpstr>
      <vt:lpstr>Key Components</vt:lpstr>
      <vt:lpstr>Navigation Instructions </vt:lpstr>
      <vt:lpstr>Technical Features</vt:lpstr>
      <vt:lpstr>Scope &amp; Applications</vt:lpstr>
      <vt:lpstr>PowerPoint Presentation</vt:lpstr>
      <vt:lpstr>Why This Specific Stack?</vt:lpstr>
      <vt:lpstr> Complete System Flow </vt:lpstr>
      <vt:lpstr>PowerPoint Presentation</vt:lpstr>
      <vt:lpstr>PowerPoint Presentation</vt:lpstr>
      <vt:lpstr>Demo Scenarios</vt:lpstr>
      <vt:lpstr>Challenges &amp; Mitigation Strategies</vt:lpstr>
      <vt:lpstr>Performance Metrics </vt:lpstr>
      <vt:lpstr>Extensions &amp; Future Scope</vt:lpstr>
      <vt:lpstr>Hackathon Details 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jitendra_chouksey25@outlook.com</dc:creator>
  <cp:revision>2</cp:revision>
  <dcterms:created xsi:type="dcterms:W3CDTF">2025-09-07T10:14:06Z</dcterms:created>
  <dcterms:modified xsi:type="dcterms:W3CDTF">2025-11-19T07:55:07Z</dcterms:modified>
</cp:coreProperties>
</file>